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05af5f0-e145-8d45-5b4d-fa70a80a8ca9}">
          <p14:sldIdLst>
            <p14:sldId id="256"/>
            <p14:sldId id="257"/>
          </p14:sldIdLst>
        </p14:section>
        <p14:section name="Architecture views" id="{66729cd3-85fe-712b-1787-1d21ee7666a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omparison" id="{545ab931-9dc8-63b7-946a-ffc2a739d8a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8132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34440" y="148132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48132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askPMO Architecture Views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 ·  Logical  ·  Physical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askPMO is a RAG assistant over Project Atlas program documents. Runs locally today; Azure Container Apps is the target state. Each view tells the same ask-a-question story at a different level of detail.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askPMO at a glance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exists, what it must do, and how well it must do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vision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137160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7830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about a program and get a current, cited answer from its own documents, or an honest “not found”, with every retrieval step visible and measured.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it addresses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46304" cy="14630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31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facts.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live across charters, RAID logs, minutes and finance PDFs; one question can take 10–30 minutes.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709160"/>
            <a:ext cx="146304" cy="14630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663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facts.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documents still say go-live is June 15 after a change request moved it to August 17.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5440680"/>
            <a:ext cx="146304" cy="14630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3949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 quality.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prove an assistant’s answers are right, or which feature made them better.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180136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18013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17830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to a document and section.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35000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235000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736592" y="233172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plus exact IDs like RSK-014, fused by RRF.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289864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28986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736592" y="28803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keeps the five best passages.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344728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06240" y="344728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736592" y="342900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“not found”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questions are refused, never guessed.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399592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0" y="399592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736592" y="397764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resolves “who owns it?”.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454456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06240" y="45445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736592" y="45262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Under-the-hood panel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per stage, with live feature toggles.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06240" y="509320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06240" y="509320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736592" y="507492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Markdown, PDF and CSV, tagged by type and date.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06240" y="5641848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06240" y="564184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736592" y="56235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runs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scored per config: retrieval and Ragas.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181965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95360" y="178308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under 6 s end to end; retrieval plus reranking under 1.5 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21040" y="23682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95360" y="233172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≥ 0.80, faithfulness ≥ 0.90, all 3 unanswerable questions refused.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21040" y="29169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95360" y="288036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$0.02 per query; a full 45-question eval run under $3.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21040" y="34655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95360" y="34290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containers run in Docker Compose and Azure Container Apps.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321040" y="40142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95360" y="39776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 in the browser; Managed Identity and Key Vault on Azure.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321040" y="456285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95360" y="452628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Configurability.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toggled by a YAML profile; no code change per experiment.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321040" y="51114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95360" y="507492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and pipeline stage traced in Arize AX.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321040" y="56601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95360" y="562356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Reproducibility. </a:t>
            </a:r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models, temperature 0, config and git hash stored per run.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open: </a:t>
            </a:r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chat model (gpt-5-mini vs. a Claude model on Foundry) · Azure region and SKUs · PDF table parser · local sign-in (none today)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architecture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askPMO does and for whom — people, capabilities, and external systems, with no technology named</a:t>
            </a:r>
            <a:endParaRPr lang="en-US" sz="1300" dirty="0"/>
          </a:p>
        </p:txBody>
      </p:sp>
      <p:sp>
        <p:nvSpPr>
          <p:cNvPr id="4" name="node PMO admin"/>
          <p:cNvSpPr/>
          <p:nvPr/>
        </p:nvSpPr>
        <p:spPr>
          <a:xfrm>
            <a:off x="411480" y="14630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5875">
            <a:solidFill>
              <a:srgbClr val="993C1D"/>
            </a:solidFill>
            <a:prstDash val="solid"/>
          </a:ln>
        </p:spPr>
      </p:sp>
      <p:pic>
        <p:nvPicPr>
          <p:cNvPr id="5" name="Image 0" descr="/home/claude/arch/p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6870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14630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admin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documents</a:t>
            </a:r>
            <a:endParaRPr lang="en-US" sz="1100" dirty="0"/>
          </a:p>
        </p:txBody>
      </p:sp>
      <p:sp>
        <p:nvSpPr>
          <p:cNvPr id="7" name="node Ingest documents"/>
          <p:cNvSpPr/>
          <p:nvPr/>
        </p:nvSpPr>
        <p:spPr>
          <a:xfrm>
            <a:off x="2176272" y="14630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8" name="Image 1" descr="/home/claude/arch/c_ing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16870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9464" y="14630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documents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tag, index</a:t>
            </a:r>
            <a:endParaRPr lang="en-US" sz="1100" dirty="0"/>
          </a:p>
        </p:txBody>
      </p:sp>
      <p:sp>
        <p:nvSpPr>
          <p:cNvPr id="10" name="node Knowledge base"/>
          <p:cNvSpPr/>
          <p:nvPr/>
        </p:nvSpPr>
        <p:spPr>
          <a:xfrm>
            <a:off x="3931920" y="14630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1" name="Image 2" descr="/home/claude/arch/c_k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16870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25112" y="14630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evidence</a:t>
            </a:r>
            <a:endParaRPr lang="en-US" sz="1100" dirty="0"/>
          </a:p>
        </p:txBody>
      </p:sp>
      <p:sp>
        <p:nvSpPr>
          <p:cNvPr id="13" name="node Program manager"/>
          <p:cNvSpPr/>
          <p:nvPr/>
        </p:nvSpPr>
        <p:spPr>
          <a:xfrm>
            <a:off x="41148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5875">
            <a:solidFill>
              <a:srgbClr val="993C1D"/>
            </a:solidFill>
            <a:prstDash val="solid"/>
          </a:ln>
        </p:spPr>
      </p:sp>
      <p:pic>
        <p:nvPicPr>
          <p:cNvPr id="14" name="Image 3" descr="/home/claude/arch/p_p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9672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467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questions</a:t>
            </a:r>
            <a:endParaRPr lang="en-US" sz="1100" dirty="0"/>
          </a:p>
        </p:txBody>
      </p:sp>
      <p:sp>
        <p:nvSpPr>
          <p:cNvPr id="16" name="node Understand"/>
          <p:cNvSpPr/>
          <p:nvPr/>
        </p:nvSpPr>
        <p:spPr>
          <a:xfrm>
            <a:off x="2176272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7" name="Image 4" descr="/home/claude/arch/c_underst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296722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569464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follow-ups</a:t>
            </a:r>
            <a:endParaRPr lang="en-US" sz="1100" dirty="0"/>
          </a:p>
        </p:txBody>
      </p:sp>
      <p:sp>
        <p:nvSpPr>
          <p:cNvPr id="19" name="node Find evidence"/>
          <p:cNvSpPr/>
          <p:nvPr/>
        </p:nvSpPr>
        <p:spPr>
          <a:xfrm>
            <a:off x="393192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20" name="Image 5" descr="/home/claude/arch/c_fi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16" y="296722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32511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evidence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+ exact terms</a:t>
            </a:r>
            <a:endParaRPr lang="en-US" sz="1100" dirty="0"/>
          </a:p>
        </p:txBody>
      </p:sp>
      <p:sp>
        <p:nvSpPr>
          <p:cNvPr id="22" name="node Rank evidence"/>
          <p:cNvSpPr/>
          <p:nvPr/>
        </p:nvSpPr>
        <p:spPr>
          <a:xfrm>
            <a:off x="5687568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23" name="Image 6" descr="/home/claude/arch/c_ra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9864" y="296722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080760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evidence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five first</a:t>
            </a:r>
            <a:endParaRPr lang="en-US" sz="1100" dirty="0"/>
          </a:p>
        </p:txBody>
      </p:sp>
      <p:sp>
        <p:nvSpPr>
          <p:cNvPr id="25" name="node Check confidence"/>
          <p:cNvSpPr/>
          <p:nvPr/>
        </p:nvSpPr>
        <p:spPr>
          <a:xfrm>
            <a:off x="745236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26" name="Image 7" descr="/home/claude/arch/c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56" y="296722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84555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confidence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or “not found”</a:t>
            </a:r>
            <a:endParaRPr lang="en-US" sz="1100" dirty="0"/>
          </a:p>
        </p:txBody>
      </p:sp>
      <p:sp>
        <p:nvSpPr>
          <p:cNvPr id="28" name="node Answer"/>
          <p:cNvSpPr/>
          <p:nvPr/>
        </p:nvSpPr>
        <p:spPr>
          <a:xfrm>
            <a:off x="745236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29" name="Image 8" descr="/home/claude/arch/c_answ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4247388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845552" y="402336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to sources</a:t>
            </a:r>
            <a:endParaRPr lang="en-US" sz="1100" dirty="0"/>
          </a:p>
        </p:txBody>
      </p:sp>
      <p:sp>
        <p:nvSpPr>
          <p:cNvPr id="31" name="node AI language model"/>
          <p:cNvSpPr/>
          <p:nvPr/>
        </p:nvSpPr>
        <p:spPr>
          <a:xfrm>
            <a:off x="2176272" y="4023360"/>
            <a:ext cx="4956048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73726C"/>
            </a:solidFill>
            <a:prstDash val="solid"/>
          </a:ln>
        </p:spPr>
      </p:sp>
      <p:pic>
        <p:nvPicPr>
          <p:cNvPr id="32" name="Image 9" descr="/home/claude/arch/x_mode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8568" y="4247388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569464" y="402336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language model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questions, reads meaning, drafts answers</a:t>
            </a:r>
            <a:endParaRPr lang="en-US" sz="1100" dirty="0"/>
          </a:p>
        </p:txBody>
      </p:sp>
      <p:sp>
        <p:nvSpPr>
          <p:cNvPr id="34" name="node RAG engineer"/>
          <p:cNvSpPr/>
          <p:nvPr/>
        </p:nvSpPr>
        <p:spPr>
          <a:xfrm>
            <a:off x="411480" y="5120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5875">
            <a:solidFill>
              <a:srgbClr val="993C1D"/>
            </a:solidFill>
            <a:prstDash val="solid"/>
          </a:ln>
        </p:spPr>
      </p:sp>
      <p:pic>
        <p:nvPicPr>
          <p:cNvPr id="35" name="Image 10" descr="/home/claude/arch/p_e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" y="5344668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804672" y="51206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quality</a:t>
            </a:r>
            <a:endParaRPr lang="en-US" sz="1100" dirty="0"/>
          </a:p>
        </p:txBody>
      </p:sp>
      <p:sp>
        <p:nvSpPr>
          <p:cNvPr id="37" name="node Measure quality"/>
          <p:cNvSpPr/>
          <p:nvPr/>
        </p:nvSpPr>
        <p:spPr>
          <a:xfrm>
            <a:off x="2176272" y="5120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38" name="Image 11" descr="/home/claude/arch/c_measur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8568" y="5344668"/>
            <a:ext cx="237744" cy="237744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2569464" y="51206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questions</a:t>
            </a:r>
            <a:endParaRPr lang="en-US" sz="1100" dirty="0"/>
          </a:p>
        </p:txBody>
      </p:sp>
      <p:sp>
        <p:nvSpPr>
          <p:cNvPr id="40" name="node Quality monitoring"/>
          <p:cNvSpPr/>
          <p:nvPr/>
        </p:nvSpPr>
        <p:spPr>
          <a:xfrm>
            <a:off x="3931920" y="512064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73726C"/>
            </a:solidFill>
            <a:prstDash val="solid"/>
          </a:ln>
        </p:spPr>
      </p:sp>
      <p:pic>
        <p:nvPicPr>
          <p:cNvPr id="41" name="Image 12" descr="/home/claude/arch/x_monito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4216" y="5344668"/>
            <a:ext cx="237744" cy="237744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4325112" y="512064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monitoring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and scores</a:t>
            </a:r>
            <a:endParaRPr lang="en-US" sz="1100" dirty="0"/>
          </a:p>
        </p:txBody>
      </p:sp>
      <p:sp>
        <p:nvSpPr>
          <p:cNvPr id="43" name="Shape 28"/>
          <p:cNvSpPr/>
          <p:nvPr/>
        </p:nvSpPr>
        <p:spPr>
          <a:xfrm>
            <a:off x="1874520" y="1805940"/>
            <a:ext cx="301752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4" name="Shape 29"/>
          <p:cNvSpPr/>
          <p:nvPr/>
        </p:nvSpPr>
        <p:spPr>
          <a:xfrm>
            <a:off x="1924812" y="152247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5" name="Text 30"/>
          <p:cNvSpPr txBox="1"/>
          <p:nvPr/>
        </p:nvSpPr>
        <p:spPr>
          <a:xfrm>
            <a:off x="1924812" y="15224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6" name="Shape 31"/>
          <p:cNvSpPr/>
          <p:nvPr/>
        </p:nvSpPr>
        <p:spPr>
          <a:xfrm>
            <a:off x="3639312" y="1805940"/>
            <a:ext cx="292608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7" name="Shape 32"/>
          <p:cNvSpPr/>
          <p:nvPr/>
        </p:nvSpPr>
        <p:spPr>
          <a:xfrm>
            <a:off x="4663440" y="214884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8" name="Shape 33"/>
          <p:cNvSpPr/>
          <p:nvPr/>
        </p:nvSpPr>
        <p:spPr>
          <a:xfrm>
            <a:off x="4745736" y="23454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9" name="Text 34"/>
          <p:cNvSpPr txBox="1"/>
          <p:nvPr/>
        </p:nvSpPr>
        <p:spPr>
          <a:xfrm>
            <a:off x="4745736" y="2345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50" name="Shape 35"/>
          <p:cNvSpPr/>
          <p:nvPr/>
        </p:nvSpPr>
        <p:spPr>
          <a:xfrm>
            <a:off x="1874520" y="3086100"/>
            <a:ext cx="301752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1" name="Shape 36"/>
          <p:cNvSpPr/>
          <p:nvPr/>
        </p:nvSpPr>
        <p:spPr>
          <a:xfrm>
            <a:off x="1924812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1924812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3" name="Shape 38"/>
          <p:cNvSpPr/>
          <p:nvPr/>
        </p:nvSpPr>
        <p:spPr>
          <a:xfrm>
            <a:off x="3639312" y="3086100"/>
            <a:ext cx="292608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4" name="Shape 39"/>
          <p:cNvSpPr/>
          <p:nvPr/>
        </p:nvSpPr>
        <p:spPr>
          <a:xfrm>
            <a:off x="5394960" y="3086100"/>
            <a:ext cx="292608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5" name="Shape 40"/>
          <p:cNvSpPr/>
          <p:nvPr/>
        </p:nvSpPr>
        <p:spPr>
          <a:xfrm>
            <a:off x="5440680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5440680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57" name="Shape 42"/>
          <p:cNvSpPr/>
          <p:nvPr/>
        </p:nvSpPr>
        <p:spPr>
          <a:xfrm>
            <a:off x="7150608" y="3086100"/>
            <a:ext cx="301752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8" name="Shape 43"/>
          <p:cNvSpPr/>
          <p:nvPr/>
        </p:nvSpPr>
        <p:spPr>
          <a:xfrm>
            <a:off x="7200900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9" name="Text 44"/>
          <p:cNvSpPr txBox="1"/>
          <p:nvPr/>
        </p:nvSpPr>
        <p:spPr>
          <a:xfrm>
            <a:off x="7200900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60" name="Shape 45"/>
          <p:cNvSpPr/>
          <p:nvPr/>
        </p:nvSpPr>
        <p:spPr>
          <a:xfrm>
            <a:off x="8183880" y="342900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1" name="Shape 46"/>
          <p:cNvSpPr/>
          <p:nvPr/>
        </p:nvSpPr>
        <p:spPr>
          <a:xfrm>
            <a:off x="8266176" y="362559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8266176" y="36255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63" name="Shape 48"/>
          <p:cNvSpPr/>
          <p:nvPr/>
        </p:nvSpPr>
        <p:spPr>
          <a:xfrm flipH="1">
            <a:off x="7132320" y="4366260"/>
            <a:ext cx="32004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4" name="Shape 49"/>
          <p:cNvSpPr/>
          <p:nvPr/>
        </p:nvSpPr>
        <p:spPr>
          <a:xfrm>
            <a:off x="2907792" y="342900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5" name="Shape 50"/>
          <p:cNvSpPr/>
          <p:nvPr/>
        </p:nvSpPr>
        <p:spPr>
          <a:xfrm>
            <a:off x="4663440" y="342900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6" name="Shape 51"/>
          <p:cNvSpPr/>
          <p:nvPr/>
        </p:nvSpPr>
        <p:spPr>
          <a:xfrm>
            <a:off x="8183880" y="4709160"/>
            <a:ext cx="0" cy="1828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 flipH="1">
            <a:off x="1143000" y="4892040"/>
            <a:ext cx="704088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68" name="Shape 53"/>
          <p:cNvSpPr/>
          <p:nvPr/>
        </p:nvSpPr>
        <p:spPr>
          <a:xfrm flipV="1">
            <a:off x="1143000" y="3429000"/>
            <a:ext cx="0" cy="146304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9" name="Shape 54"/>
          <p:cNvSpPr/>
          <p:nvPr/>
        </p:nvSpPr>
        <p:spPr>
          <a:xfrm>
            <a:off x="5020056" y="47914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0" name="Text 55"/>
          <p:cNvSpPr txBox="1"/>
          <p:nvPr/>
        </p:nvSpPr>
        <p:spPr>
          <a:xfrm>
            <a:off x="5020056" y="4791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71" name="Shape 56"/>
          <p:cNvSpPr/>
          <p:nvPr/>
        </p:nvSpPr>
        <p:spPr>
          <a:xfrm>
            <a:off x="1874520" y="5463540"/>
            <a:ext cx="301752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72" name="Shape 57"/>
          <p:cNvSpPr/>
          <p:nvPr/>
        </p:nvSpPr>
        <p:spPr>
          <a:xfrm>
            <a:off x="1924812" y="518007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3" name="Text 58"/>
          <p:cNvSpPr txBox="1"/>
          <p:nvPr/>
        </p:nvSpPr>
        <p:spPr>
          <a:xfrm>
            <a:off x="1924812" y="51800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4" name="Shape 59"/>
          <p:cNvSpPr/>
          <p:nvPr/>
        </p:nvSpPr>
        <p:spPr>
          <a:xfrm>
            <a:off x="3639312" y="5463540"/>
            <a:ext cx="292608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75" name="Text 60"/>
          <p:cNvSpPr txBox="1"/>
          <p:nvPr/>
        </p:nvSpPr>
        <p:spPr>
          <a:xfrm>
            <a:off x="92354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notes</a:t>
            </a:r>
            <a:endParaRPr lang="en-US" sz="1300" dirty="0"/>
          </a:p>
        </p:txBody>
      </p:sp>
      <p:sp>
        <p:nvSpPr>
          <p:cNvPr id="76" name="Shape 61"/>
          <p:cNvSpPr/>
          <p:nvPr/>
        </p:nvSpPr>
        <p:spPr>
          <a:xfrm>
            <a:off x="9235440" y="170992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7" name="Text 62"/>
          <p:cNvSpPr txBox="1"/>
          <p:nvPr/>
        </p:nvSpPr>
        <p:spPr>
          <a:xfrm>
            <a:off x="9235440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78" name="Text 63"/>
          <p:cNvSpPr txBox="1"/>
          <p:nvPr/>
        </p:nvSpPr>
        <p:spPr>
          <a:xfrm>
            <a:off x="9555480" y="1691640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documents.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PMO admin adds program documents; each is split, tagged by type and date, and indexed.</a:t>
            </a:r>
            <a:endParaRPr lang="en-US" sz="850" dirty="0"/>
          </a:p>
        </p:txBody>
      </p:sp>
      <p:sp>
        <p:nvSpPr>
          <p:cNvPr id="79" name="Shape 64"/>
          <p:cNvSpPr/>
          <p:nvPr/>
        </p:nvSpPr>
        <p:spPr>
          <a:xfrm>
            <a:off x="9235440" y="2232442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0" name="Text 65"/>
          <p:cNvSpPr txBox="1"/>
          <p:nvPr/>
        </p:nvSpPr>
        <p:spPr>
          <a:xfrm>
            <a:off x="9235440" y="223244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1" name="Text 66"/>
          <p:cNvSpPr txBox="1"/>
          <p:nvPr/>
        </p:nvSpPr>
        <p:spPr>
          <a:xfrm>
            <a:off x="9555480" y="2214154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manager asks in plain language; follow-ups are resolved using the conversation.</a:t>
            </a:r>
            <a:endParaRPr lang="en-US" sz="850" dirty="0"/>
          </a:p>
        </p:txBody>
      </p:sp>
      <p:sp>
        <p:nvSpPr>
          <p:cNvPr id="82" name="Shape 67"/>
          <p:cNvSpPr/>
          <p:nvPr/>
        </p:nvSpPr>
        <p:spPr>
          <a:xfrm>
            <a:off x="9235440" y="2754957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3" name="Text 68"/>
          <p:cNvSpPr txBox="1"/>
          <p:nvPr/>
        </p:nvSpPr>
        <p:spPr>
          <a:xfrm>
            <a:off x="9235440" y="2754957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4" name="Text 69"/>
          <p:cNvSpPr txBox="1"/>
          <p:nvPr/>
        </p:nvSpPr>
        <p:spPr>
          <a:xfrm>
            <a:off x="9555480" y="2736669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evidence.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meaning and by exact terms such as RSK-014, at the same time.</a:t>
            </a:r>
            <a:endParaRPr lang="en-US" sz="850" dirty="0"/>
          </a:p>
        </p:txBody>
      </p:sp>
      <p:sp>
        <p:nvSpPr>
          <p:cNvPr id="85" name="Shape 70"/>
          <p:cNvSpPr/>
          <p:nvPr/>
        </p:nvSpPr>
        <p:spPr>
          <a:xfrm>
            <a:off x="9235440" y="3277471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6" name="Text 71"/>
          <p:cNvSpPr txBox="1"/>
          <p:nvPr/>
        </p:nvSpPr>
        <p:spPr>
          <a:xfrm>
            <a:off x="9235440" y="327747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7" name="Text 72"/>
          <p:cNvSpPr txBox="1"/>
          <p:nvPr/>
        </p:nvSpPr>
        <p:spPr>
          <a:xfrm>
            <a:off x="9555480" y="3259183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evidence.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reading of each passage keeps the five most relevant.</a:t>
            </a:r>
            <a:endParaRPr lang="en-US" sz="850" dirty="0"/>
          </a:p>
        </p:txBody>
      </p:sp>
      <p:sp>
        <p:nvSpPr>
          <p:cNvPr id="88" name="Shape 73"/>
          <p:cNvSpPr/>
          <p:nvPr/>
        </p:nvSpPr>
        <p:spPr>
          <a:xfrm>
            <a:off x="9235440" y="3799985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9" name="Text 74"/>
          <p:cNvSpPr txBox="1"/>
          <p:nvPr/>
        </p:nvSpPr>
        <p:spPr>
          <a:xfrm>
            <a:off x="9235440" y="3799985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90" name="Text 75"/>
          <p:cNvSpPr txBox="1"/>
          <p:nvPr/>
        </p:nvSpPr>
        <p:spPr>
          <a:xfrm>
            <a:off x="9555480" y="3781697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confidence.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evidence gives an honest “not found”, never a guess.</a:t>
            </a:r>
            <a:endParaRPr lang="en-US" sz="850" dirty="0"/>
          </a:p>
        </p:txBody>
      </p:sp>
      <p:sp>
        <p:nvSpPr>
          <p:cNvPr id="91" name="Shape 76"/>
          <p:cNvSpPr/>
          <p:nvPr/>
        </p:nvSpPr>
        <p:spPr>
          <a:xfrm>
            <a:off x="9235440" y="4322499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2" name="Text 77"/>
          <p:cNvSpPr txBox="1"/>
          <p:nvPr/>
        </p:nvSpPr>
        <p:spPr>
          <a:xfrm>
            <a:off x="9235440" y="432249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93" name="Text 78"/>
          <p:cNvSpPr txBox="1"/>
          <p:nvPr/>
        </p:nvSpPr>
        <p:spPr>
          <a:xfrm>
            <a:off x="9555480" y="4304211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drafts only from the evidence and cites every source.</a:t>
            </a:r>
            <a:endParaRPr lang="en-US" sz="850" dirty="0"/>
          </a:p>
        </p:txBody>
      </p:sp>
      <p:sp>
        <p:nvSpPr>
          <p:cNvPr id="94" name="Shape 79"/>
          <p:cNvSpPr/>
          <p:nvPr/>
        </p:nvSpPr>
        <p:spPr>
          <a:xfrm>
            <a:off x="9235440" y="4845014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5" name="Text 80"/>
          <p:cNvSpPr txBox="1"/>
          <p:nvPr/>
        </p:nvSpPr>
        <p:spPr>
          <a:xfrm>
            <a:off x="9235440" y="484501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96" name="Text 81"/>
          <p:cNvSpPr txBox="1"/>
          <p:nvPr/>
        </p:nvSpPr>
        <p:spPr>
          <a:xfrm>
            <a:off x="9555480" y="4826726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evidence.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returns with its sources and how each passage scored.</a:t>
            </a:r>
            <a:endParaRPr lang="en-US" sz="850" dirty="0"/>
          </a:p>
        </p:txBody>
      </p:sp>
      <p:sp>
        <p:nvSpPr>
          <p:cNvPr id="97" name="Shape 82"/>
          <p:cNvSpPr/>
          <p:nvPr/>
        </p:nvSpPr>
        <p:spPr>
          <a:xfrm>
            <a:off x="9235440" y="536752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8" name="Text 83"/>
          <p:cNvSpPr txBox="1"/>
          <p:nvPr/>
        </p:nvSpPr>
        <p:spPr>
          <a:xfrm>
            <a:off x="9235440" y="5367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99" name="Text 84"/>
          <p:cNvSpPr txBox="1"/>
          <p:nvPr/>
        </p:nvSpPr>
        <p:spPr>
          <a:xfrm>
            <a:off x="9555480" y="5349240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questions are replayed; scores and traces go to quality monitoring.</a:t>
            </a:r>
            <a:endParaRPr lang="en-US" sz="850" dirty="0"/>
          </a:p>
        </p:txBody>
      </p:sp>
      <p:sp>
        <p:nvSpPr>
          <p:cNvPr id="100" name="Text 85"/>
          <p:cNvSpPr txBox="1"/>
          <p:nvPr/>
        </p:nvSpPr>
        <p:spPr>
          <a:xfrm>
            <a:off x="9235440" y="5897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sponsors, PMO leaders and business stakeholders.</a:t>
            </a:r>
            <a:endParaRPr lang="en-US" sz="750" dirty="0"/>
          </a:p>
        </p:txBody>
      </p:sp>
      <p:sp>
        <p:nvSpPr>
          <p:cNvPr id="101" name="Shape 86"/>
          <p:cNvSpPr/>
          <p:nvPr/>
        </p:nvSpPr>
        <p:spPr>
          <a:xfrm>
            <a:off x="4114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02" name="Text 87"/>
          <p:cNvSpPr txBox="1"/>
          <p:nvPr/>
        </p:nvSpPr>
        <p:spPr>
          <a:xfrm>
            <a:off x="6126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50" dirty="0"/>
          </a:p>
        </p:txBody>
      </p:sp>
      <p:sp>
        <p:nvSpPr>
          <p:cNvPr id="103" name="Shape 88"/>
          <p:cNvSpPr/>
          <p:nvPr/>
        </p:nvSpPr>
        <p:spPr>
          <a:xfrm>
            <a:off x="20116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4" name="Text 89"/>
          <p:cNvSpPr txBox="1"/>
          <p:nvPr/>
        </p:nvSpPr>
        <p:spPr>
          <a:xfrm>
            <a:off x="22128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askPMO capabilities</a:t>
            </a:r>
            <a:endParaRPr lang="en-US" sz="850" dirty="0"/>
          </a:p>
        </p:txBody>
      </p:sp>
      <p:sp>
        <p:nvSpPr>
          <p:cNvPr id="105" name="Shape 90"/>
          <p:cNvSpPr/>
          <p:nvPr/>
        </p:nvSpPr>
        <p:spPr>
          <a:xfrm>
            <a:off x="36118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73726C"/>
            </a:solidFill>
            <a:prstDash val="solid"/>
          </a:ln>
        </p:spPr>
      </p:sp>
      <p:sp>
        <p:nvSpPr>
          <p:cNvPr id="106" name="Text 91"/>
          <p:cNvSpPr txBox="1"/>
          <p:nvPr/>
        </p:nvSpPr>
        <p:spPr>
          <a:xfrm>
            <a:off x="38130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askPMO is organized — services, stores, and the end-to-end question flow</a:t>
            </a:r>
            <a:endParaRPr lang="en-US" sz="1300" dirty="0"/>
          </a:p>
        </p:txBody>
      </p:sp>
      <p:sp>
        <p:nvSpPr>
          <p:cNvPr id="4" name="node Entra ID"/>
          <p:cNvSpPr/>
          <p:nvPr/>
        </p:nvSpPr>
        <p:spPr>
          <a:xfrm>
            <a:off x="411480" y="14630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5" name="Image 0" descr="/home/claude/arch/en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6870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14630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(Azure target)</a:t>
            </a:r>
            <a:endParaRPr lang="en-US" sz="1100" dirty="0"/>
          </a:p>
        </p:txBody>
      </p:sp>
      <p:sp>
        <p:nvSpPr>
          <p:cNvPr id="7" name="node React SPA"/>
          <p:cNvSpPr/>
          <p:nvPr/>
        </p:nvSpPr>
        <p:spPr>
          <a:xfrm>
            <a:off x="41148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8" name="Image 1" descr="/home/claude/arch/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9672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467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score panel</a:t>
            </a:r>
            <a:endParaRPr lang="en-US" sz="1100" dirty="0"/>
          </a:p>
        </p:txBody>
      </p:sp>
      <p:sp>
        <p:nvSpPr>
          <p:cNvPr id="10" name="node RAG API"/>
          <p:cNvSpPr/>
          <p:nvPr/>
        </p:nvSpPr>
        <p:spPr>
          <a:xfrm>
            <a:off x="2176272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1" name="Image 2" descr="/home/claude/arch/fasta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29672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69464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API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LangChain</a:t>
            </a:r>
            <a:endParaRPr lang="en-US" sz="1100" dirty="0"/>
          </a:p>
        </p:txBody>
      </p:sp>
      <p:sp>
        <p:nvSpPr>
          <p:cNvPr id="13" name="node Azure AI Foundry"/>
          <p:cNvSpPr/>
          <p:nvPr/>
        </p:nvSpPr>
        <p:spPr>
          <a:xfrm>
            <a:off x="3794760" y="14630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14" name="Image 3" descr="/home/claude/arch/found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16870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87952" y="1463040"/>
            <a:ext cx="4672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and embeddings; deployment chosen per config profile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794760" y="26060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0"/>
            </a:srgbClr>
          </a:solidFill>
          <a:ln w="12700">
            <a:solidFill>
              <a:srgbClr val="9A9890"/>
            </a:solidFill>
            <a:prstDash val="dash"/>
          </a:ln>
        </p:spPr>
      </p:sp>
      <p:sp>
        <p:nvSpPr>
          <p:cNvPr id="17" name="Text 11"/>
          <p:cNvSpPr txBox="1"/>
          <p:nvPr/>
        </p:nvSpPr>
        <p:spPr>
          <a:xfrm>
            <a:off x="3904488" y="26700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 · runs inside the RAG API</a:t>
            </a:r>
            <a:endParaRPr lang="en-US" sz="850" dirty="0"/>
          </a:p>
        </p:txBody>
      </p:sp>
      <p:sp>
        <p:nvSpPr>
          <p:cNvPr id="18" name="node Rewrite query"/>
          <p:cNvSpPr/>
          <p:nvPr/>
        </p:nvSpPr>
        <p:spPr>
          <a:xfrm>
            <a:off x="3886200" y="2880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941064" y="288036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query</a:t>
            </a:r>
            <a:endParaRPr lang="en-US" sz="1100" dirty="0"/>
          </a:p>
        </p:txBody>
      </p:sp>
      <p:sp>
        <p:nvSpPr>
          <p:cNvPr id="20" name="node Hybrid retrieve"/>
          <p:cNvSpPr/>
          <p:nvPr/>
        </p:nvSpPr>
        <p:spPr>
          <a:xfrm>
            <a:off x="4901184" y="2880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956048" y="288036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</a:t>
            </a:r>
            <a:endParaRPr lang="en-US" sz="1100" dirty="0"/>
          </a:p>
        </p:txBody>
      </p:sp>
      <p:sp>
        <p:nvSpPr>
          <p:cNvPr id="22" name="node Rerank"/>
          <p:cNvSpPr/>
          <p:nvPr/>
        </p:nvSpPr>
        <p:spPr>
          <a:xfrm>
            <a:off x="5916168" y="2880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971032" y="288036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</p:txBody>
      </p:sp>
      <p:sp>
        <p:nvSpPr>
          <p:cNvPr id="24" name="node Guardrail"/>
          <p:cNvSpPr/>
          <p:nvPr/>
        </p:nvSpPr>
        <p:spPr>
          <a:xfrm>
            <a:off x="6931152" y="2880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986016" y="288036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26" name="node Generate + cite"/>
          <p:cNvSpPr/>
          <p:nvPr/>
        </p:nvSpPr>
        <p:spPr>
          <a:xfrm>
            <a:off x="7946136" y="2880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001000" y="288036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cite</a:t>
            </a:r>
            <a:endParaRPr lang="en-US" sz="1100" dirty="0"/>
          </a:p>
        </p:txBody>
      </p:sp>
      <p:sp>
        <p:nvSpPr>
          <p:cNvPr id="28" name="node Retrieval index"/>
          <p:cNvSpPr/>
          <p:nvPr/>
        </p:nvSpPr>
        <p:spPr>
          <a:xfrm>
            <a:off x="4572000" y="402336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29" name="Image 4" descr="/home/claude/arch/ai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4247388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965192" y="4023360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index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keyword</a:t>
            </a:r>
            <a:endParaRPr lang="en-US" sz="1100" dirty="0"/>
          </a:p>
        </p:txBody>
      </p:sp>
      <p:sp>
        <p:nvSpPr>
          <p:cNvPr id="31" name="node Arize AX"/>
          <p:cNvSpPr/>
          <p:nvPr/>
        </p:nvSpPr>
        <p:spPr>
          <a:xfrm>
            <a:off x="763524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73726C"/>
            </a:solidFill>
            <a:prstDash val="dash"/>
          </a:ln>
        </p:spPr>
      </p:sp>
      <p:pic>
        <p:nvPicPr>
          <p:cNvPr id="32" name="Image 5" descr="/home/claude/arch/ariz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36" y="424738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028432" y="402336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AX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tracing (OTel)</a:t>
            </a:r>
            <a:endParaRPr lang="en-US" sz="1100" dirty="0"/>
          </a:p>
        </p:txBody>
      </p:sp>
      <p:sp>
        <p:nvSpPr>
          <p:cNvPr id="34" name="node PostgreSQL"/>
          <p:cNvSpPr/>
          <p:nvPr/>
        </p:nvSpPr>
        <p:spPr>
          <a:xfrm>
            <a:off x="411480" y="402336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35" name="Image 6" descr="/home/claude/arch/postgr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4247388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04672" y="402336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Chats, feedback, runs</a:t>
            </a:r>
            <a:endParaRPr lang="en-US" sz="1100" dirty="0"/>
          </a:p>
        </p:txBody>
      </p:sp>
      <p:sp>
        <p:nvSpPr>
          <p:cNvPr id="37" name="node Blob + queue"/>
          <p:cNvSpPr/>
          <p:nvPr/>
        </p:nvSpPr>
        <p:spPr>
          <a:xfrm>
            <a:off x="2176272" y="5120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38" name="Image 7" descr="/home/claude/arch/stor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8568" y="5344668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2569464" y="51206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+ queue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ingest jobs</a:t>
            </a:r>
            <a:endParaRPr lang="en-US" sz="1100" dirty="0"/>
          </a:p>
        </p:txBody>
      </p:sp>
      <p:sp>
        <p:nvSpPr>
          <p:cNvPr id="40" name="node Ingestion worker"/>
          <p:cNvSpPr/>
          <p:nvPr/>
        </p:nvSpPr>
        <p:spPr>
          <a:xfrm>
            <a:off x="3931920" y="5120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41" name="Image 8" descr="/home/claude/arch/pyth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4216" y="5344668"/>
            <a:ext cx="237744" cy="2377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325112" y="51206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worker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Chunk, embed, index</a:t>
            </a:r>
            <a:endParaRPr lang="en-US" sz="1100" dirty="0"/>
          </a:p>
        </p:txBody>
      </p:sp>
      <p:sp>
        <p:nvSpPr>
          <p:cNvPr id="43" name="node Eval runner"/>
          <p:cNvSpPr/>
          <p:nvPr/>
        </p:nvSpPr>
        <p:spPr>
          <a:xfrm>
            <a:off x="6309360" y="51206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44" name="Image 9" descr="/home/claude/arch/pyth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656" y="5344668"/>
            <a:ext cx="237744" cy="237744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702552" y="51206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runner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set, metrics</a:t>
            </a:r>
            <a:endParaRPr lang="en-US" sz="1100" dirty="0"/>
          </a:p>
        </p:txBody>
      </p:sp>
      <p:sp>
        <p:nvSpPr>
          <p:cNvPr id="46" name="Shape 34"/>
          <p:cNvSpPr/>
          <p:nvPr/>
        </p:nvSpPr>
        <p:spPr>
          <a:xfrm flipV="1">
            <a:off x="1143000" y="214884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7" name="Shape 35"/>
          <p:cNvSpPr/>
          <p:nvPr/>
        </p:nvSpPr>
        <p:spPr>
          <a:xfrm>
            <a:off x="1225296" y="23454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1225296" y="2345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9" name="Shape 37"/>
          <p:cNvSpPr/>
          <p:nvPr/>
        </p:nvSpPr>
        <p:spPr>
          <a:xfrm>
            <a:off x="1874520" y="3086100"/>
            <a:ext cx="301752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0" name="Shape 38"/>
          <p:cNvSpPr/>
          <p:nvPr/>
        </p:nvSpPr>
        <p:spPr>
          <a:xfrm>
            <a:off x="1924812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1924812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2" name="Shape 40"/>
          <p:cNvSpPr/>
          <p:nvPr/>
        </p:nvSpPr>
        <p:spPr>
          <a:xfrm>
            <a:off x="3639312" y="3154680"/>
            <a:ext cx="246888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3" name="Shape 41"/>
          <p:cNvSpPr/>
          <p:nvPr/>
        </p:nvSpPr>
        <p:spPr>
          <a:xfrm>
            <a:off x="4754880" y="3154680"/>
            <a:ext cx="146304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4" name="Shape 42"/>
          <p:cNvSpPr/>
          <p:nvPr/>
        </p:nvSpPr>
        <p:spPr>
          <a:xfrm>
            <a:off x="5769864" y="3154680"/>
            <a:ext cx="146304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5" name="Shape 43"/>
          <p:cNvSpPr/>
          <p:nvPr/>
        </p:nvSpPr>
        <p:spPr>
          <a:xfrm>
            <a:off x="6784848" y="3154680"/>
            <a:ext cx="146304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6" name="Shape 44"/>
          <p:cNvSpPr/>
          <p:nvPr/>
        </p:nvSpPr>
        <p:spPr>
          <a:xfrm>
            <a:off x="7799832" y="3154680"/>
            <a:ext cx="146304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 flipV="1">
            <a:off x="4320540" y="2148840"/>
            <a:ext cx="0" cy="73152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4402836" y="22768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4402836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0" name="Shape 48"/>
          <p:cNvSpPr/>
          <p:nvPr/>
        </p:nvSpPr>
        <p:spPr>
          <a:xfrm flipV="1">
            <a:off x="5335524" y="2148840"/>
            <a:ext cx="0" cy="73152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5335524" y="342900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2" name="Shape 50"/>
          <p:cNvSpPr/>
          <p:nvPr/>
        </p:nvSpPr>
        <p:spPr>
          <a:xfrm>
            <a:off x="5417820" y="362559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3" name="Text 51"/>
          <p:cNvSpPr txBox="1"/>
          <p:nvPr/>
        </p:nvSpPr>
        <p:spPr>
          <a:xfrm>
            <a:off x="5417820" y="36255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64" name="Shape 52"/>
          <p:cNvSpPr/>
          <p:nvPr/>
        </p:nvSpPr>
        <p:spPr>
          <a:xfrm>
            <a:off x="6249924" y="36027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6249924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66" name="Shape 54"/>
          <p:cNvSpPr/>
          <p:nvPr/>
        </p:nvSpPr>
        <p:spPr>
          <a:xfrm flipV="1">
            <a:off x="8380476" y="2148840"/>
            <a:ext cx="0" cy="73152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7" name="Shape 55"/>
          <p:cNvSpPr/>
          <p:nvPr/>
        </p:nvSpPr>
        <p:spPr>
          <a:xfrm>
            <a:off x="8462772" y="22768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8" name="Text 56"/>
          <p:cNvSpPr txBox="1"/>
          <p:nvPr/>
        </p:nvSpPr>
        <p:spPr>
          <a:xfrm>
            <a:off x="8462772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69" name="Shape 57"/>
          <p:cNvSpPr/>
          <p:nvPr/>
        </p:nvSpPr>
        <p:spPr>
          <a:xfrm>
            <a:off x="8380476" y="342900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70" name="Shape 58"/>
          <p:cNvSpPr/>
          <p:nvPr/>
        </p:nvSpPr>
        <p:spPr>
          <a:xfrm>
            <a:off x="8462772" y="362559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8462772" y="36255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72" name="Shape 60"/>
          <p:cNvSpPr/>
          <p:nvPr/>
        </p:nvSpPr>
        <p:spPr>
          <a:xfrm>
            <a:off x="2468880" y="3429000"/>
            <a:ext cx="0" cy="9372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 flipH="1">
            <a:off x="1874520" y="4366260"/>
            <a:ext cx="5943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74" name="Shape 62"/>
          <p:cNvSpPr/>
          <p:nvPr/>
        </p:nvSpPr>
        <p:spPr>
          <a:xfrm>
            <a:off x="3200400" y="3429000"/>
            <a:ext cx="0" cy="169164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75" name="Shape 63"/>
          <p:cNvSpPr/>
          <p:nvPr/>
        </p:nvSpPr>
        <p:spPr>
          <a:xfrm>
            <a:off x="3282696" y="44714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6" name="Text 64"/>
          <p:cNvSpPr txBox="1"/>
          <p:nvPr/>
        </p:nvSpPr>
        <p:spPr>
          <a:xfrm>
            <a:off x="3282696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7" name="Shape 65"/>
          <p:cNvSpPr/>
          <p:nvPr/>
        </p:nvSpPr>
        <p:spPr>
          <a:xfrm>
            <a:off x="3639312" y="5463540"/>
            <a:ext cx="292608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78" name="Shape 66"/>
          <p:cNvSpPr/>
          <p:nvPr/>
        </p:nvSpPr>
        <p:spPr>
          <a:xfrm flipV="1">
            <a:off x="4937760" y="4709160"/>
            <a:ext cx="0" cy="4114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79" name="Shape 67"/>
          <p:cNvSpPr/>
          <p:nvPr/>
        </p:nvSpPr>
        <p:spPr>
          <a:xfrm flipV="1">
            <a:off x="7040880" y="3566160"/>
            <a:ext cx="0" cy="15544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80" name="Shape 68"/>
          <p:cNvSpPr/>
          <p:nvPr/>
        </p:nvSpPr>
        <p:spPr>
          <a:xfrm>
            <a:off x="7123176" y="44714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81" name="Text 69"/>
          <p:cNvSpPr txBox="1"/>
          <p:nvPr/>
        </p:nvSpPr>
        <p:spPr>
          <a:xfrm>
            <a:off x="7123176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2" name="Shape 70"/>
          <p:cNvSpPr/>
          <p:nvPr/>
        </p:nvSpPr>
        <p:spPr>
          <a:xfrm>
            <a:off x="7772400" y="5463540"/>
            <a:ext cx="5943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 flipV="1">
            <a:off x="8366760" y="4709160"/>
            <a:ext cx="0" cy="7543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84" name="Text 72"/>
          <p:cNvSpPr txBox="1"/>
          <p:nvPr/>
        </p:nvSpPr>
        <p:spPr>
          <a:xfrm>
            <a:off x="92354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notes</a:t>
            </a:r>
            <a:endParaRPr lang="en-US" sz="1300" dirty="0"/>
          </a:p>
        </p:txBody>
      </p:sp>
      <p:sp>
        <p:nvSpPr>
          <p:cNvPr id="85" name="Shape 73"/>
          <p:cNvSpPr/>
          <p:nvPr/>
        </p:nvSpPr>
        <p:spPr>
          <a:xfrm>
            <a:off x="9235440" y="166420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6" name="Text 74"/>
          <p:cNvSpPr txBox="1"/>
          <p:nvPr/>
        </p:nvSpPr>
        <p:spPr>
          <a:xfrm>
            <a:off x="9235440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87" name="Text 75"/>
          <p:cNvSpPr txBox="1"/>
          <p:nvPr/>
        </p:nvSpPr>
        <p:spPr>
          <a:xfrm>
            <a:off x="9555480" y="164592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on Azure; the browser keeps only a cookie. Local runs with no sign-in.</a:t>
            </a:r>
            <a:endParaRPr lang="en-US" sz="850" dirty="0"/>
          </a:p>
        </p:txBody>
      </p:sp>
      <p:sp>
        <p:nvSpPr>
          <p:cNvPr id="88" name="Shape 76"/>
          <p:cNvSpPr/>
          <p:nvPr/>
        </p:nvSpPr>
        <p:spPr>
          <a:xfrm>
            <a:off x="9235440" y="212712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9" name="Text 77"/>
          <p:cNvSpPr txBox="1"/>
          <p:nvPr/>
        </p:nvSpPr>
        <p:spPr>
          <a:xfrm>
            <a:off x="9235440" y="212712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0" name="Text 78"/>
          <p:cNvSpPr txBox="1"/>
          <p:nvPr/>
        </p:nvSpPr>
        <p:spPr>
          <a:xfrm>
            <a:off x="9555480" y="210883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posts the question, chat history and config profile to the RAG API.</a:t>
            </a:r>
            <a:endParaRPr lang="en-US" sz="850" dirty="0"/>
          </a:p>
        </p:txBody>
      </p:sp>
      <p:sp>
        <p:nvSpPr>
          <p:cNvPr id="91" name="Shape 79"/>
          <p:cNvSpPr/>
          <p:nvPr/>
        </p:nvSpPr>
        <p:spPr>
          <a:xfrm>
            <a:off x="9235440" y="259003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2" name="Text 80"/>
          <p:cNvSpPr txBox="1"/>
          <p:nvPr/>
        </p:nvSpPr>
        <p:spPr>
          <a:xfrm>
            <a:off x="9235440" y="259003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93" name="Text 81"/>
          <p:cNvSpPr txBox="1"/>
          <p:nvPr/>
        </p:nvSpPr>
        <p:spPr>
          <a:xfrm>
            <a:off x="9555480" y="257175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become a standalone query via the Foundry chat model.</a:t>
            </a:r>
            <a:endParaRPr lang="en-US" sz="850" dirty="0"/>
          </a:p>
        </p:txBody>
      </p:sp>
      <p:sp>
        <p:nvSpPr>
          <p:cNvPr id="94" name="Shape 82"/>
          <p:cNvSpPr/>
          <p:nvPr/>
        </p:nvSpPr>
        <p:spPr>
          <a:xfrm>
            <a:off x="9235440" y="305295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5" name="Text 83"/>
          <p:cNvSpPr txBox="1"/>
          <p:nvPr/>
        </p:nvSpPr>
        <p:spPr>
          <a:xfrm>
            <a:off x="9235440" y="305295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96" name="Text 84"/>
          <p:cNvSpPr txBox="1"/>
          <p:nvPr/>
        </p:nvSpPr>
        <p:spPr>
          <a:xfrm>
            <a:off x="9555480" y="303466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on Foundry; vector and keyword search fused by RRF; top 30.</a:t>
            </a:r>
            <a:endParaRPr lang="en-US" sz="850" dirty="0"/>
          </a:p>
        </p:txBody>
      </p:sp>
      <p:sp>
        <p:nvSpPr>
          <p:cNvPr id="97" name="Shape 85"/>
          <p:cNvSpPr/>
          <p:nvPr/>
        </p:nvSpPr>
        <p:spPr>
          <a:xfrm>
            <a:off x="9235440" y="351586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8" name="Text 86"/>
          <p:cNvSpPr txBox="1"/>
          <p:nvPr/>
        </p:nvSpPr>
        <p:spPr>
          <a:xfrm>
            <a:off x="9235440" y="35158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99" name="Text 87"/>
          <p:cNvSpPr txBox="1"/>
          <p:nvPr/>
        </p:nvSpPr>
        <p:spPr>
          <a:xfrm>
            <a:off x="9555480" y="349758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and guard.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cross-encoder keeps 5; a low top score returns “not found”.</a:t>
            </a:r>
            <a:endParaRPr lang="en-US" sz="850" dirty="0"/>
          </a:p>
        </p:txBody>
      </p:sp>
      <p:sp>
        <p:nvSpPr>
          <p:cNvPr id="100" name="Shape 88"/>
          <p:cNvSpPr/>
          <p:nvPr/>
        </p:nvSpPr>
        <p:spPr>
          <a:xfrm>
            <a:off x="9235440" y="397878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1" name="Text 89"/>
          <p:cNvSpPr txBox="1"/>
          <p:nvPr/>
        </p:nvSpPr>
        <p:spPr>
          <a:xfrm>
            <a:off x="9235440" y="397878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02" name="Text 90"/>
          <p:cNvSpPr txBox="1"/>
          <p:nvPr/>
        </p:nvSpPr>
        <p:spPr>
          <a:xfrm>
            <a:off x="9555480" y="396049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chat model answers from the 5 chunks with structured citations.</a:t>
            </a:r>
            <a:endParaRPr lang="en-US" sz="850" dirty="0"/>
          </a:p>
        </p:txBody>
      </p:sp>
      <p:sp>
        <p:nvSpPr>
          <p:cNvPr id="103" name="Shape 91"/>
          <p:cNvSpPr/>
          <p:nvPr/>
        </p:nvSpPr>
        <p:spPr>
          <a:xfrm>
            <a:off x="9235440" y="444169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4" name="Text 92"/>
          <p:cNvSpPr txBox="1"/>
          <p:nvPr/>
        </p:nvSpPr>
        <p:spPr>
          <a:xfrm>
            <a:off x="9235440" y="444169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05" name="Text 93"/>
          <p:cNvSpPr txBox="1"/>
          <p:nvPr/>
        </p:nvSpPr>
        <p:spPr>
          <a:xfrm>
            <a:off x="9555480" y="442341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and persist.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traced to Arize AX; turn, scores and feedback to PostgreSQL.</a:t>
            </a:r>
            <a:endParaRPr lang="en-US" sz="850" dirty="0"/>
          </a:p>
        </p:txBody>
      </p:sp>
      <p:sp>
        <p:nvSpPr>
          <p:cNvPr id="106" name="Shape 94"/>
          <p:cNvSpPr/>
          <p:nvPr/>
        </p:nvSpPr>
        <p:spPr>
          <a:xfrm>
            <a:off x="9235440" y="490461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7" name="Text 95"/>
          <p:cNvSpPr txBox="1"/>
          <p:nvPr/>
        </p:nvSpPr>
        <p:spPr>
          <a:xfrm>
            <a:off x="9235440" y="490461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08" name="Text 96"/>
          <p:cNvSpPr txBox="1"/>
          <p:nvPr/>
        </p:nvSpPr>
        <p:spPr>
          <a:xfrm>
            <a:off x="9555480" y="488632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to Blob, job to queue; the worker chunks, embeds and indexes.</a:t>
            </a:r>
            <a:endParaRPr lang="en-US" sz="850" dirty="0"/>
          </a:p>
        </p:txBody>
      </p:sp>
      <p:sp>
        <p:nvSpPr>
          <p:cNvPr id="109" name="Shape 97"/>
          <p:cNvSpPr/>
          <p:nvPr/>
        </p:nvSpPr>
        <p:spPr>
          <a:xfrm>
            <a:off x="9235440" y="536752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10" name="Text 98"/>
          <p:cNvSpPr txBox="1"/>
          <p:nvPr/>
        </p:nvSpPr>
        <p:spPr>
          <a:xfrm>
            <a:off x="9235440" y="5367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111" name="Text 99"/>
          <p:cNvSpPr txBox="1"/>
          <p:nvPr/>
        </p:nvSpPr>
        <p:spPr>
          <a:xfrm>
            <a:off x="9555480" y="534924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runner replays the golden set through the API per profile.</a:t>
            </a:r>
            <a:endParaRPr lang="en-US" sz="850" dirty="0"/>
          </a:p>
        </p:txBody>
      </p:sp>
      <p:sp>
        <p:nvSpPr>
          <p:cNvPr id="112" name="Text 100"/>
          <p:cNvSpPr txBox="1"/>
          <p:nvPr/>
        </p:nvSpPr>
        <p:spPr>
          <a:xfrm>
            <a:off x="9235440" y="5897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Environment-neutral view: each Azure-managed store has a local container stand-in (see physical views).</a:t>
            </a:r>
            <a:endParaRPr lang="en-US" sz="750" dirty="0"/>
          </a:p>
        </p:txBody>
      </p:sp>
      <p:sp>
        <p:nvSpPr>
          <p:cNvPr id="113" name="Shape 101"/>
          <p:cNvSpPr/>
          <p:nvPr/>
        </p:nvSpPr>
        <p:spPr>
          <a:xfrm>
            <a:off x="4114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4" name="Text 102"/>
          <p:cNvSpPr txBox="1"/>
          <p:nvPr/>
        </p:nvSpPr>
        <p:spPr>
          <a:xfrm>
            <a:off x="6126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services</a:t>
            </a:r>
            <a:endParaRPr lang="en-US" sz="850" dirty="0"/>
          </a:p>
        </p:txBody>
      </p:sp>
      <p:sp>
        <p:nvSpPr>
          <p:cNvPr id="115" name="Shape 103"/>
          <p:cNvSpPr/>
          <p:nvPr/>
        </p:nvSpPr>
        <p:spPr>
          <a:xfrm>
            <a:off x="20116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6" name="Text 104"/>
          <p:cNvSpPr txBox="1"/>
          <p:nvPr/>
        </p:nvSpPr>
        <p:spPr>
          <a:xfrm>
            <a:off x="22128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managed</a:t>
            </a:r>
            <a:endParaRPr lang="en-US" sz="850" dirty="0"/>
          </a:p>
        </p:txBody>
      </p:sp>
      <p:sp>
        <p:nvSpPr>
          <p:cNvPr id="117" name="Shape 105"/>
          <p:cNvSpPr/>
          <p:nvPr/>
        </p:nvSpPr>
        <p:spPr>
          <a:xfrm>
            <a:off x="36118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73726C"/>
            </a:solidFill>
            <a:prstDash val="solid"/>
          </a:ln>
        </p:spPr>
      </p:sp>
      <p:sp>
        <p:nvSpPr>
          <p:cNvPr id="118" name="Text 106"/>
          <p:cNvSpPr txBox="1"/>
          <p:nvPr/>
        </p:nvSpPr>
        <p:spPr>
          <a:xfrm>
            <a:off x="38130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design decisions (1 of 2)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component: the options, the decision, why it was made, and the cost accepted. ADRs are proposed and will be recorded in the HLD.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874520"/>
                <a:gridCol w="1691640"/>
                <a:gridCol w="3017520"/>
                <a:gridCol w="2240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considered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accepted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(PRD); React SPA over a FastAPI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SPA + FastAPI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OnePulse pattern; the under-the-hood panel needs custom UI, and a real API serves the SPA, eval runner and future agents alike.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code than Streamlit; PRD requirement FR-19 must be updated.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ADR-001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shape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BFF + core API; single API behind a web proxy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FastAPI service on internal ingress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is read-only and synchronous, with no irreversible actions, and platform auth handles the session; a second service would add a hop with no benefit.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approvals or write-backs arrive later, split out a BFF.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ADR-002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in the browser; platform auth with a cookie session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Apps built-in auth (Entra ID); no auth locally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token ever reaches browser code, and there is no session code to write or secure.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runs never exercise auth; ties sign-in to Container Apps.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ADR-003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Queue-coordinated like OnePulse runs; synchronous request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Synchronous; the queue is reserved for ingestion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user is waiting about 6 s and there is nothing to survive a restart; queueing would add polling with no gain.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requests hold a replica; a 30 s timeout caps 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ADR-004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Hand-rolled Python; LlamaIndex; LangChain (LCEL)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(LCEL)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components for hybrid retrieval, reranking and history-aware queries, and auto-instrumentation for Arize tracing.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Fast-moving APIs; versions pinned (retrievers moved to langchain-classic in v1).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ADR-005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everywhere; AI Search everywhere; Qdrant local + AI Search on Azure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retriever interface: Qdrant locally, Azure AI Search on Azure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runs free in Docker with dense + sparse vectors; AI Search is managed, uses Managed Identity, and needs no stateful container.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backends to maintain; a golden-set parity run is required before cutover.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ADR-006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fusion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BM25 + EnsembleRetriever; store-native hybrid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Store-native vector + keyword query, fused by RRF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index persists and scales with the store; in-memory BM25 must be rebuilt on every start.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Per-leg scores need a debug mode that runs each leg separately.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ADR-007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design decisions (2 of 2)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component: the options, the decision, why it was made, and the cost accepted. ADRs are proposed and will be recorded in the HLD.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874520"/>
                <a:gridCol w="1691640"/>
                <a:gridCol w="3017520"/>
                <a:gridCol w="2240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considered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accepted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Search semantic ranker; hosted rerank API; in-process cross-encoder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bge-reranker-base inside the RAG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behavior locally and on Azure, scores visible per chunk, and no extra service cost.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latency for 30 pairs; a larger API image (model baked in).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ADR-008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bge-small; Foundry embedding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embeddings in both environments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embedding model keeps indexes and eval results comparable between local and Azure.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development needs network access and a key; small per-token cost.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ADR-009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via Anthropic API; models on Azure AI Foundry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deployment, named per config 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Azure-native, reachable with Managed Identity, and the same platform as OnePulse.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specific model (gpt-5-mini vs. Claude on Foundry) is still open.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open (model)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SQLite; 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(container locally; Flexible Server on Azure)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Chats, feedback, document registry, ingest status and eval runs need concurrent writers from three services.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more service to run locally.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ADR-010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trigger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script; queue-coordinated worker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worker: Azurite locally, Storage Queue on Azure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code runs in both places; re-ingestion never blocks the API, and KEDA scales the job to zero.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status record and a progress view.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ADR-011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Phoenix (PRD); Arize 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AX via OpenTelemetry (OpenInference)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platform as OnePulse; traces every LLM call and stage, and stores eval runs as experiments.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external dependency and the only egress path; real corpora would need masking.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ADR-012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Hard-coded settings; YAML profiles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profiles (baseline, hybrid, full), chosen per request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toggles and eval runs both map to profiles, so an experiment is a config change, not a code change.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 need schema validation (Pydantic).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ADR-013 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local (current)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 today — one Docker Compose project on a laptop, calling two cloud services</a:t>
            </a:r>
            <a:endParaRPr lang="en-US" sz="1300" dirty="0"/>
          </a:p>
        </p:txBody>
      </p:sp>
      <p:sp>
        <p:nvSpPr>
          <p:cNvPr id="4" name="node Browser"/>
          <p:cNvSpPr/>
          <p:nvPr/>
        </p:nvSpPr>
        <p:spPr>
          <a:xfrm>
            <a:off x="41148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73726C"/>
            </a:solidFill>
            <a:prstDash val="solid"/>
          </a:ln>
        </p:spPr>
      </p:sp>
      <p:pic>
        <p:nvPicPr>
          <p:cNvPr id="5" name="Image 0" descr="/home/claude/arch/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9672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57400" y="150876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9A9890"/>
            </a:solidFill>
            <a:prstDash val="dash"/>
          </a:ln>
        </p:spPr>
      </p:sp>
      <p:pic>
        <p:nvPicPr>
          <p:cNvPr id="8" name="Image 1" descr="/home/claude/arch/doc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1600200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04872" y="15727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project</a:t>
            </a:r>
            <a:endParaRPr lang="en-US" sz="850" dirty="0"/>
          </a:p>
        </p:txBody>
      </p:sp>
      <p:sp>
        <p:nvSpPr>
          <p:cNvPr id="10" name="node eval"/>
          <p:cNvSpPr/>
          <p:nvPr/>
        </p:nvSpPr>
        <p:spPr>
          <a:xfrm>
            <a:off x="2240280" y="187452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1" name="Image 2" descr="/home/claude/arch/ev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209854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33472" y="187452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demand</a:t>
            </a:r>
            <a:endParaRPr lang="en-US" sz="1100" dirty="0"/>
          </a:p>
        </p:txBody>
      </p:sp>
      <p:sp>
        <p:nvSpPr>
          <p:cNvPr id="13" name="node web"/>
          <p:cNvSpPr/>
          <p:nvPr/>
        </p:nvSpPr>
        <p:spPr>
          <a:xfrm>
            <a:off x="224028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4" name="Image 3" descr="/home/claude/arch/ngin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29672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63347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 SPA + /api proxy</a:t>
            </a:r>
            <a:endParaRPr lang="en-US" sz="1100" dirty="0"/>
          </a:p>
        </p:txBody>
      </p:sp>
      <p:sp>
        <p:nvSpPr>
          <p:cNvPr id="16" name="node worker"/>
          <p:cNvSpPr/>
          <p:nvPr/>
        </p:nvSpPr>
        <p:spPr>
          <a:xfrm>
            <a:off x="2240280" y="41148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7" name="Image 4" descr="/home/claude/arch/work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576" y="433882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633472" y="41148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polls queue</a:t>
            </a:r>
            <a:endParaRPr lang="en-US" sz="1100" dirty="0"/>
          </a:p>
        </p:txBody>
      </p:sp>
      <p:sp>
        <p:nvSpPr>
          <p:cNvPr id="19" name="node api"/>
          <p:cNvSpPr/>
          <p:nvPr/>
        </p:nvSpPr>
        <p:spPr>
          <a:xfrm>
            <a:off x="397764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20" name="Image 5" descr="/home/claude/arch/fastap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936" y="296722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37083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reranker</a:t>
            </a:r>
            <a:endParaRPr lang="en-US" sz="1100" dirty="0"/>
          </a:p>
        </p:txBody>
      </p:sp>
      <p:sp>
        <p:nvSpPr>
          <p:cNvPr id="22" name="node postgres"/>
          <p:cNvSpPr/>
          <p:nvPr/>
        </p:nvSpPr>
        <p:spPr>
          <a:xfrm>
            <a:off x="5715000" y="187452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23" name="Image 6" descr="/home/claude/arch/postgr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7296" y="209854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108192" y="187452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schema</a:t>
            </a:r>
            <a:endParaRPr lang="en-US" sz="1100" dirty="0"/>
          </a:p>
        </p:txBody>
      </p:sp>
      <p:sp>
        <p:nvSpPr>
          <p:cNvPr id="25" name="node qdrant"/>
          <p:cNvSpPr/>
          <p:nvPr/>
        </p:nvSpPr>
        <p:spPr>
          <a:xfrm>
            <a:off x="571500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26" name="Image 7" descr="/home/claude/arch/qdra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296" y="296722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10819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</a:t>
            </a:r>
            <a:endParaRPr lang="en-US" sz="1100" dirty="0"/>
          </a:p>
        </p:txBody>
      </p:sp>
      <p:sp>
        <p:nvSpPr>
          <p:cNvPr id="28" name="node azurite"/>
          <p:cNvSpPr/>
          <p:nvPr/>
        </p:nvSpPr>
        <p:spPr>
          <a:xfrm>
            <a:off x="5715000" y="41148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29" name="Image 8" descr="/home/claude/arch/azur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296" y="4338828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108192" y="41148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azurite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+ Queue emulator</a:t>
            </a:r>
            <a:endParaRPr lang="en-US" sz="1100" dirty="0"/>
          </a:p>
        </p:txBody>
      </p:sp>
      <p:sp>
        <p:nvSpPr>
          <p:cNvPr id="31" name="Text 20"/>
          <p:cNvSpPr txBox="1"/>
          <p:nvPr/>
        </p:nvSpPr>
        <p:spPr>
          <a:xfrm>
            <a:off x="758952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850" dirty="0"/>
          </a:p>
        </p:txBody>
      </p:sp>
      <p:sp>
        <p:nvSpPr>
          <p:cNvPr id="32" name="node AI Foundry"/>
          <p:cNvSpPr/>
          <p:nvPr/>
        </p:nvSpPr>
        <p:spPr>
          <a:xfrm>
            <a:off x="7589520" y="141732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33" name="Image 9" descr="/home/claude/arch/found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1816" y="1641348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982712" y="141732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from .env</a:t>
            </a:r>
            <a:endParaRPr lang="en-US" sz="1100" dirty="0"/>
          </a:p>
        </p:txBody>
      </p:sp>
      <p:sp>
        <p:nvSpPr>
          <p:cNvPr id="35" name="Text 23"/>
          <p:cNvSpPr txBox="1"/>
          <p:nvPr/>
        </p:nvSpPr>
        <p:spPr>
          <a:xfrm>
            <a:off x="7589520" y="3200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50" dirty="0"/>
          </a:p>
        </p:txBody>
      </p:sp>
      <p:sp>
        <p:nvSpPr>
          <p:cNvPr id="36" name="node Arize AX"/>
          <p:cNvSpPr/>
          <p:nvPr/>
        </p:nvSpPr>
        <p:spPr>
          <a:xfrm>
            <a:off x="7589520" y="34290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73726C"/>
            </a:solidFill>
            <a:prstDash val="dash"/>
          </a:ln>
        </p:spPr>
      </p:sp>
      <p:pic>
        <p:nvPicPr>
          <p:cNvPr id="37" name="Image 10" descr="/home/claude/arch/ariz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1816" y="3653028"/>
            <a:ext cx="237744" cy="237744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7982712" y="34290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AX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trace egress</a:t>
            </a:r>
            <a:endParaRPr lang="en-US" sz="1100" dirty="0"/>
          </a:p>
        </p:txBody>
      </p:sp>
      <p:sp>
        <p:nvSpPr>
          <p:cNvPr id="39" name="Shape 26"/>
          <p:cNvSpPr/>
          <p:nvPr/>
        </p:nvSpPr>
        <p:spPr>
          <a:xfrm>
            <a:off x="1874520" y="3086100"/>
            <a:ext cx="3657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0" name="Shape 27"/>
          <p:cNvSpPr/>
          <p:nvPr/>
        </p:nvSpPr>
        <p:spPr>
          <a:xfrm>
            <a:off x="1956816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1" name="Text 28"/>
          <p:cNvSpPr txBox="1"/>
          <p:nvPr/>
        </p:nvSpPr>
        <p:spPr>
          <a:xfrm>
            <a:off x="1956816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2" name="Shape 29"/>
          <p:cNvSpPr/>
          <p:nvPr/>
        </p:nvSpPr>
        <p:spPr>
          <a:xfrm>
            <a:off x="3703320" y="3086100"/>
            <a:ext cx="27432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3" name="Shape 30"/>
          <p:cNvSpPr/>
          <p:nvPr/>
        </p:nvSpPr>
        <p:spPr>
          <a:xfrm>
            <a:off x="3739896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3739896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45" name="Shape 32"/>
          <p:cNvSpPr/>
          <p:nvPr/>
        </p:nvSpPr>
        <p:spPr>
          <a:xfrm>
            <a:off x="5440680" y="3086100"/>
            <a:ext cx="27432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6" name="Shape 33"/>
          <p:cNvSpPr/>
          <p:nvPr/>
        </p:nvSpPr>
        <p:spPr>
          <a:xfrm>
            <a:off x="5477256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5477256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48" name="Shape 35"/>
          <p:cNvSpPr/>
          <p:nvPr/>
        </p:nvSpPr>
        <p:spPr>
          <a:xfrm flipV="1">
            <a:off x="5120640" y="2217420"/>
            <a:ext cx="0" cy="5257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5120640" y="2217420"/>
            <a:ext cx="5943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0" name="Shape 37"/>
          <p:cNvSpPr/>
          <p:nvPr/>
        </p:nvSpPr>
        <p:spPr>
          <a:xfrm>
            <a:off x="5202936" y="236829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5202936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52" name="Shape 39"/>
          <p:cNvSpPr/>
          <p:nvPr/>
        </p:nvSpPr>
        <p:spPr>
          <a:xfrm flipV="1">
            <a:off x="4709160" y="1760220"/>
            <a:ext cx="0" cy="9829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4709160" y="1760220"/>
            <a:ext cx="28803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4" name="Shape 41"/>
          <p:cNvSpPr/>
          <p:nvPr/>
        </p:nvSpPr>
        <p:spPr>
          <a:xfrm>
            <a:off x="6574536" y="1659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5" name="Text 42"/>
          <p:cNvSpPr txBox="1"/>
          <p:nvPr/>
        </p:nvSpPr>
        <p:spPr>
          <a:xfrm>
            <a:off x="6574536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56" name="Shape 43"/>
          <p:cNvSpPr/>
          <p:nvPr/>
        </p:nvSpPr>
        <p:spPr>
          <a:xfrm>
            <a:off x="5120640" y="3429000"/>
            <a:ext cx="0" cy="34290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57" name="Shape 44"/>
          <p:cNvSpPr/>
          <p:nvPr/>
        </p:nvSpPr>
        <p:spPr>
          <a:xfrm>
            <a:off x="5120640" y="3771900"/>
            <a:ext cx="246888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8" name="Shape 45"/>
          <p:cNvSpPr/>
          <p:nvPr/>
        </p:nvSpPr>
        <p:spPr>
          <a:xfrm>
            <a:off x="6574536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9" name="Text 46"/>
          <p:cNvSpPr txBox="1"/>
          <p:nvPr/>
        </p:nvSpPr>
        <p:spPr>
          <a:xfrm>
            <a:off x="6574536" y="36713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60" name="Shape 47"/>
          <p:cNvSpPr/>
          <p:nvPr/>
        </p:nvSpPr>
        <p:spPr>
          <a:xfrm>
            <a:off x="4709160" y="3429000"/>
            <a:ext cx="0" cy="8686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4709160" y="4297680"/>
            <a:ext cx="100584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2" name="Shape 49"/>
          <p:cNvSpPr/>
          <p:nvPr/>
        </p:nvSpPr>
        <p:spPr>
          <a:xfrm>
            <a:off x="5111496" y="419709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3" name="Text 50"/>
          <p:cNvSpPr txBox="1"/>
          <p:nvPr/>
        </p:nvSpPr>
        <p:spPr>
          <a:xfrm>
            <a:off x="5111496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64" name="Shape 51"/>
          <p:cNvSpPr/>
          <p:nvPr/>
        </p:nvSpPr>
        <p:spPr>
          <a:xfrm>
            <a:off x="3703320" y="4617720"/>
            <a:ext cx="201168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5" name="Shape 52"/>
          <p:cNvSpPr/>
          <p:nvPr/>
        </p:nvSpPr>
        <p:spPr>
          <a:xfrm>
            <a:off x="4197096" y="45171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6" name="Text 53"/>
          <p:cNvSpPr txBox="1"/>
          <p:nvPr/>
        </p:nvSpPr>
        <p:spPr>
          <a:xfrm>
            <a:off x="4197096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67" name="Shape 54"/>
          <p:cNvSpPr/>
          <p:nvPr/>
        </p:nvSpPr>
        <p:spPr>
          <a:xfrm>
            <a:off x="3703320" y="2217420"/>
            <a:ext cx="5943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4297680" y="2217420"/>
            <a:ext cx="0" cy="52578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9" name="Shape 56"/>
          <p:cNvSpPr/>
          <p:nvPr/>
        </p:nvSpPr>
        <p:spPr>
          <a:xfrm>
            <a:off x="3922776" y="22768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0" name="Text 57"/>
          <p:cNvSpPr txBox="1"/>
          <p:nvPr/>
        </p:nvSpPr>
        <p:spPr>
          <a:xfrm>
            <a:off x="3922776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1" name="Text 58"/>
          <p:cNvSpPr txBox="1"/>
          <p:nvPr/>
        </p:nvSpPr>
        <p:spPr>
          <a:xfrm>
            <a:off x="92354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notes</a:t>
            </a:r>
            <a:endParaRPr lang="en-US" sz="1300" dirty="0"/>
          </a:p>
        </p:txBody>
      </p:sp>
      <p:sp>
        <p:nvSpPr>
          <p:cNvPr id="72" name="Shape 59"/>
          <p:cNvSpPr/>
          <p:nvPr/>
        </p:nvSpPr>
        <p:spPr>
          <a:xfrm>
            <a:off x="9235440" y="166420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3" name="Text 60"/>
          <p:cNvSpPr txBox="1"/>
          <p:nvPr/>
        </p:nvSpPr>
        <p:spPr>
          <a:xfrm>
            <a:off x="9235440" y="1664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74" name="Text 61"/>
          <p:cNvSpPr txBox="1"/>
          <p:nvPr/>
        </p:nvSpPr>
        <p:spPr>
          <a:xfrm>
            <a:off x="9555480" y="164592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hits nginx on localhost:8080; no sign-in in local mode.</a:t>
            </a:r>
            <a:endParaRPr lang="en-US" sz="850" dirty="0"/>
          </a:p>
        </p:txBody>
      </p:sp>
      <p:sp>
        <p:nvSpPr>
          <p:cNvPr id="75" name="Shape 62"/>
          <p:cNvSpPr/>
          <p:nvPr/>
        </p:nvSpPr>
        <p:spPr>
          <a:xfrm>
            <a:off x="9235440" y="212712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6" name="Text 63"/>
          <p:cNvSpPr txBox="1"/>
          <p:nvPr/>
        </p:nvSpPr>
        <p:spPr>
          <a:xfrm>
            <a:off x="9235440" y="212712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7" name="Text 64"/>
          <p:cNvSpPr txBox="1"/>
          <p:nvPr/>
        </p:nvSpPr>
        <p:spPr>
          <a:xfrm>
            <a:off x="9555480" y="210883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serves the SPA and forwards /api to the api container.</a:t>
            </a:r>
            <a:endParaRPr lang="en-US" sz="850" dirty="0"/>
          </a:p>
        </p:txBody>
      </p:sp>
      <p:sp>
        <p:nvSpPr>
          <p:cNvPr id="78" name="Shape 65"/>
          <p:cNvSpPr/>
          <p:nvPr/>
        </p:nvSpPr>
        <p:spPr>
          <a:xfrm>
            <a:off x="9235440" y="259003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9" name="Text 66"/>
          <p:cNvSpPr txBox="1"/>
          <p:nvPr/>
        </p:nvSpPr>
        <p:spPr>
          <a:xfrm>
            <a:off x="9235440" y="259003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0" name="Text 67"/>
          <p:cNvSpPr txBox="1"/>
          <p:nvPr/>
        </p:nvSpPr>
        <p:spPr>
          <a:xfrm>
            <a:off x="9555480" y="257175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runs a hybrid dense + sparse query on qdrant over the Compose network.</a:t>
            </a:r>
            <a:endParaRPr lang="en-US" sz="850" dirty="0"/>
          </a:p>
        </p:txBody>
      </p:sp>
      <p:sp>
        <p:nvSpPr>
          <p:cNvPr id="81" name="Shape 68"/>
          <p:cNvSpPr/>
          <p:nvPr/>
        </p:nvSpPr>
        <p:spPr>
          <a:xfrm>
            <a:off x="9235440" y="305295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2" name="Text 69"/>
          <p:cNvSpPr txBox="1"/>
          <p:nvPr/>
        </p:nvSpPr>
        <p:spPr>
          <a:xfrm>
            <a:off x="9235440" y="305295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3" name="Text 70"/>
          <p:cNvSpPr txBox="1"/>
          <p:nvPr/>
        </p:nvSpPr>
        <p:spPr>
          <a:xfrm>
            <a:off x="9555480" y="303466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Chats, feedback, eval runs and ingest status go to postgres.</a:t>
            </a:r>
            <a:endParaRPr lang="en-US" sz="850" dirty="0"/>
          </a:p>
        </p:txBody>
      </p:sp>
      <p:sp>
        <p:nvSpPr>
          <p:cNvPr id="84" name="Shape 71"/>
          <p:cNvSpPr/>
          <p:nvPr/>
        </p:nvSpPr>
        <p:spPr>
          <a:xfrm>
            <a:off x="9235440" y="351586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5" name="Text 72"/>
          <p:cNvSpPr txBox="1"/>
          <p:nvPr/>
        </p:nvSpPr>
        <p:spPr>
          <a:xfrm>
            <a:off x="9235440" y="35158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6" name="Text 73"/>
          <p:cNvSpPr txBox="1"/>
          <p:nvPr/>
        </p:nvSpPr>
        <p:spPr>
          <a:xfrm>
            <a:off x="9555480" y="349758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Foundry.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and embeddings over HTTPS, with keys from .env.</a:t>
            </a:r>
            <a:endParaRPr lang="en-US" sz="850" dirty="0"/>
          </a:p>
        </p:txBody>
      </p:sp>
      <p:sp>
        <p:nvSpPr>
          <p:cNvPr id="87" name="Shape 74"/>
          <p:cNvSpPr/>
          <p:nvPr/>
        </p:nvSpPr>
        <p:spPr>
          <a:xfrm>
            <a:off x="9235440" y="397878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8" name="Text 75"/>
          <p:cNvSpPr txBox="1"/>
          <p:nvPr/>
        </p:nvSpPr>
        <p:spPr>
          <a:xfrm>
            <a:off x="9235440" y="397878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9" name="Text 76"/>
          <p:cNvSpPr txBox="1"/>
          <p:nvPr/>
        </p:nvSpPr>
        <p:spPr>
          <a:xfrm>
            <a:off x="9555480" y="396049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exported to Arize AX over OTLP.</a:t>
            </a:r>
            <a:endParaRPr lang="en-US" sz="850" dirty="0"/>
          </a:p>
        </p:txBody>
      </p:sp>
      <p:sp>
        <p:nvSpPr>
          <p:cNvPr id="90" name="Shape 77"/>
          <p:cNvSpPr/>
          <p:nvPr/>
        </p:nvSpPr>
        <p:spPr>
          <a:xfrm>
            <a:off x="9235440" y="444169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1" name="Text 78"/>
          <p:cNvSpPr txBox="1"/>
          <p:nvPr/>
        </p:nvSpPr>
        <p:spPr>
          <a:xfrm>
            <a:off x="9235440" y="444169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92" name="Text 79"/>
          <p:cNvSpPr txBox="1"/>
          <p:nvPr/>
        </p:nvSpPr>
        <p:spPr>
          <a:xfrm>
            <a:off x="9555480" y="442341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stores documents in azurite Blob and posts a job to its queue.</a:t>
            </a:r>
            <a:endParaRPr lang="en-US" sz="850" dirty="0"/>
          </a:p>
        </p:txBody>
      </p:sp>
      <p:sp>
        <p:nvSpPr>
          <p:cNvPr id="93" name="Shape 80"/>
          <p:cNvSpPr/>
          <p:nvPr/>
        </p:nvSpPr>
        <p:spPr>
          <a:xfrm>
            <a:off x="9235440" y="4904613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4" name="Text 81"/>
          <p:cNvSpPr txBox="1"/>
          <p:nvPr/>
        </p:nvSpPr>
        <p:spPr>
          <a:xfrm>
            <a:off x="9235440" y="490461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95" name="Text 82"/>
          <p:cNvSpPr txBox="1"/>
          <p:nvPr/>
        </p:nvSpPr>
        <p:spPr>
          <a:xfrm>
            <a:off x="9555480" y="4886325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polls the queue, chunks, embeds via Foundry, writes to qdrant.</a:t>
            </a:r>
            <a:endParaRPr lang="en-US" sz="850" dirty="0"/>
          </a:p>
        </p:txBody>
      </p:sp>
      <p:sp>
        <p:nvSpPr>
          <p:cNvPr id="96" name="Shape 83"/>
          <p:cNvSpPr/>
          <p:nvPr/>
        </p:nvSpPr>
        <p:spPr>
          <a:xfrm>
            <a:off x="9235440" y="536752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7" name="Text 84"/>
          <p:cNvSpPr txBox="1"/>
          <p:nvPr/>
        </p:nvSpPr>
        <p:spPr>
          <a:xfrm>
            <a:off x="9235440" y="5367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98" name="Text 85"/>
          <p:cNvSpPr txBox="1"/>
          <p:nvPr/>
        </p:nvSpPr>
        <p:spPr>
          <a:xfrm>
            <a:off x="9555480" y="5349240"/>
            <a:ext cx="2240280" cy="42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run eval replays the golden set through the api.</a:t>
            </a:r>
            <a:endParaRPr lang="en-US" sz="850" dirty="0"/>
          </a:p>
        </p:txBody>
      </p:sp>
      <p:sp>
        <p:nvSpPr>
          <p:cNvPr id="99" name="Text 86"/>
          <p:cNvSpPr txBox="1"/>
          <p:nvPr/>
        </p:nvSpPr>
        <p:spPr>
          <a:xfrm>
            <a:off x="9235440" y="5897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→ qdrant, postgres and Foundry arrows omitted. One Compose network; data in named volumes; one command brings the stack up.</a:t>
            </a:r>
            <a:endParaRPr lang="en-US" sz="750" dirty="0"/>
          </a:p>
        </p:txBody>
      </p:sp>
      <p:sp>
        <p:nvSpPr>
          <p:cNvPr id="100" name="Shape 87"/>
          <p:cNvSpPr/>
          <p:nvPr/>
        </p:nvSpPr>
        <p:spPr>
          <a:xfrm>
            <a:off x="4114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1" name="Text 88"/>
          <p:cNvSpPr txBox="1"/>
          <p:nvPr/>
        </p:nvSpPr>
        <p:spPr>
          <a:xfrm>
            <a:off x="6126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containers</a:t>
            </a:r>
            <a:endParaRPr lang="en-US" sz="850" dirty="0"/>
          </a:p>
        </p:txBody>
      </p:sp>
      <p:sp>
        <p:nvSpPr>
          <p:cNvPr id="102" name="Shape 89"/>
          <p:cNvSpPr/>
          <p:nvPr/>
        </p:nvSpPr>
        <p:spPr>
          <a:xfrm>
            <a:off x="20116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3" name="Text 90"/>
          <p:cNvSpPr txBox="1"/>
          <p:nvPr/>
        </p:nvSpPr>
        <p:spPr>
          <a:xfrm>
            <a:off x="22128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Azure</a:t>
            </a:r>
            <a:endParaRPr lang="en-US" sz="850" dirty="0"/>
          </a:p>
        </p:txBody>
      </p:sp>
      <p:sp>
        <p:nvSpPr>
          <p:cNvPr id="104" name="Shape 91"/>
          <p:cNvSpPr/>
          <p:nvPr/>
        </p:nvSpPr>
        <p:spPr>
          <a:xfrm>
            <a:off x="36118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73726C"/>
            </a:solidFill>
            <a:prstDash val="solid"/>
          </a:ln>
        </p:spPr>
      </p:sp>
      <p:sp>
        <p:nvSpPr>
          <p:cNvPr id="105" name="Text 92"/>
          <p:cNvSpPr txBox="1"/>
          <p:nvPr/>
        </p:nvSpPr>
        <p:spPr>
          <a:xfrm>
            <a:off x="38130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external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 — Azure (target state)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will run on Azure — hosting boundaries, ingress, identity, and egress</a:t>
            </a:r>
            <a:endParaRPr lang="en-US" sz="1300" dirty="0"/>
          </a:p>
        </p:txBody>
      </p:sp>
      <p:sp>
        <p:nvSpPr>
          <p:cNvPr id="4" name="node Entra ID"/>
          <p:cNvSpPr/>
          <p:nvPr/>
        </p:nvSpPr>
        <p:spPr>
          <a:xfrm>
            <a:off x="411480" y="146304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5" name="Image 0" descr="/home/claude/arch/en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6870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146304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sign-in</a:t>
            </a:r>
            <a:endParaRPr lang="en-US" sz="1100" dirty="0"/>
          </a:p>
        </p:txBody>
      </p:sp>
      <p:sp>
        <p:nvSpPr>
          <p:cNvPr id="7" name="node Browser"/>
          <p:cNvSpPr/>
          <p:nvPr/>
        </p:nvSpPr>
        <p:spPr>
          <a:xfrm>
            <a:off x="41148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5875">
            <a:solidFill>
              <a:srgbClr val="73726C"/>
            </a:solidFill>
            <a:prstDash val="solid"/>
          </a:ln>
        </p:spPr>
      </p:sp>
      <p:pic>
        <p:nvPicPr>
          <p:cNvPr id="8" name="Image 1" descr="/home/claude/arch/brow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9672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467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SPA, cookie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057400" y="150876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9A9890"/>
            </a:solidFill>
            <a:prstDash val="dash"/>
          </a:ln>
        </p:spPr>
      </p:sp>
      <p:pic>
        <p:nvPicPr>
          <p:cNvPr id="11" name="Image 2" descr="/home/claude/arch/containerap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160020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404872" y="1572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environment</a:t>
            </a:r>
            <a:endParaRPr lang="en-US" sz="850" dirty="0"/>
          </a:p>
        </p:txBody>
      </p:sp>
      <p:sp>
        <p:nvSpPr>
          <p:cNvPr id="13" name="node web"/>
          <p:cNvSpPr/>
          <p:nvPr/>
        </p:nvSpPr>
        <p:spPr>
          <a:xfrm>
            <a:off x="224028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4" name="Image 3" descr="/home/claude/arch/ngin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29672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63347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ingress + auth</a:t>
            </a:r>
            <a:endParaRPr lang="en-US" sz="1100" dirty="0"/>
          </a:p>
        </p:txBody>
      </p:sp>
      <p:sp>
        <p:nvSpPr>
          <p:cNvPr id="16" name="node api"/>
          <p:cNvSpPr/>
          <p:nvPr/>
        </p:nvSpPr>
        <p:spPr>
          <a:xfrm>
            <a:off x="397764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17" name="Image 4" descr="/home/claude/arch/fastap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296722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70832" y="27432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ingress only</a:t>
            </a:r>
            <a:endParaRPr lang="en-US" sz="1100" dirty="0"/>
          </a:p>
        </p:txBody>
      </p:sp>
      <p:sp>
        <p:nvSpPr>
          <p:cNvPr id="19" name="node eval job"/>
          <p:cNvSpPr/>
          <p:nvPr/>
        </p:nvSpPr>
        <p:spPr>
          <a:xfrm>
            <a:off x="2240280" y="41148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20" name="Image 5" descr="/home/claude/arch/ev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576" y="433882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633472" y="41148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job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scheduled</a:t>
            </a:r>
            <a:endParaRPr lang="en-US" sz="1100" dirty="0"/>
          </a:p>
        </p:txBody>
      </p:sp>
      <p:sp>
        <p:nvSpPr>
          <p:cNvPr id="22" name="node ingest job"/>
          <p:cNvSpPr/>
          <p:nvPr/>
        </p:nvSpPr>
        <p:spPr>
          <a:xfrm>
            <a:off x="3977640" y="41148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pic>
        <p:nvPicPr>
          <p:cNvPr id="23" name="Image 6" descr="/home/claude/arch/work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9936" y="433882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370832" y="4114800"/>
            <a:ext cx="101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job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 queue trigger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5943600" y="3291840"/>
            <a:ext cx="1280160" cy="1645920"/>
          </a:xfrm>
          <a:prstGeom prst="roundRect">
            <a:avLst>
              <a:gd name="adj" fmla="val 4286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26" name="Image 7" descr="/home/claude/arch/stor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520440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989320" y="3931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(documents) + Queue (ingest jobs)</a:t>
            </a:r>
            <a:endParaRPr lang="en-US" sz="1100" dirty="0"/>
          </a:p>
        </p:txBody>
      </p:sp>
      <p:sp>
        <p:nvSpPr>
          <p:cNvPr id="28" name="Text 18"/>
          <p:cNvSpPr txBox="1"/>
          <p:nvPr/>
        </p:nvSpPr>
        <p:spPr>
          <a:xfrm>
            <a:off x="745236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shared services</a:t>
            </a:r>
            <a:endParaRPr lang="en-US" sz="850" dirty="0"/>
          </a:p>
        </p:txBody>
      </p:sp>
      <p:sp>
        <p:nvSpPr>
          <p:cNvPr id="29" name="node Key Vault"/>
          <p:cNvSpPr/>
          <p:nvPr/>
        </p:nvSpPr>
        <p:spPr>
          <a:xfrm>
            <a:off x="7452360" y="1463040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30" name="Image 8" descr="/home/claude/arch/keyvaul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656" y="1609344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845552" y="1463040"/>
            <a:ext cx="101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if any</a:t>
            </a:r>
            <a:endParaRPr lang="en-US" sz="1100" dirty="0"/>
          </a:p>
        </p:txBody>
      </p:sp>
      <p:sp>
        <p:nvSpPr>
          <p:cNvPr id="32" name="node AI Foundry"/>
          <p:cNvSpPr/>
          <p:nvPr/>
        </p:nvSpPr>
        <p:spPr>
          <a:xfrm>
            <a:off x="7452360" y="2084832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33" name="Image 9" descr="/home/claude/arch/found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656" y="2231136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845552" y="2084832"/>
            <a:ext cx="101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embeddings</a:t>
            </a:r>
            <a:endParaRPr lang="en-US" sz="1100" dirty="0"/>
          </a:p>
        </p:txBody>
      </p:sp>
      <p:sp>
        <p:nvSpPr>
          <p:cNvPr id="35" name="node AI Search"/>
          <p:cNvSpPr/>
          <p:nvPr/>
        </p:nvSpPr>
        <p:spPr>
          <a:xfrm>
            <a:off x="7452360" y="2706624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36" name="Image 10" descr="/home/claude/arch/aisearc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2852928"/>
            <a:ext cx="237744" cy="237744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845552" y="2706624"/>
            <a:ext cx="101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index</a:t>
            </a:r>
            <a:endParaRPr lang="en-US" sz="1100" dirty="0"/>
          </a:p>
        </p:txBody>
      </p:sp>
      <p:sp>
        <p:nvSpPr>
          <p:cNvPr id="38" name="node PostgreSQL"/>
          <p:cNvSpPr/>
          <p:nvPr/>
        </p:nvSpPr>
        <p:spPr>
          <a:xfrm>
            <a:off x="7452360" y="3328416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pic>
        <p:nvPicPr>
          <p:cNvPr id="39" name="Image 11" descr="/home/claude/arch/postgre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4656" y="3474720"/>
            <a:ext cx="237744" cy="237744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7845552" y="3328416"/>
            <a:ext cx="101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Server</a:t>
            </a:r>
            <a:endParaRPr lang="en-US" sz="1100" dirty="0"/>
          </a:p>
        </p:txBody>
      </p:sp>
      <p:sp>
        <p:nvSpPr>
          <p:cNvPr id="41" name="Text 27"/>
          <p:cNvSpPr txBox="1"/>
          <p:nvPr/>
        </p:nvSpPr>
        <p:spPr>
          <a:xfrm>
            <a:off x="7452360" y="4023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50" dirty="0"/>
          </a:p>
        </p:txBody>
      </p:sp>
      <p:sp>
        <p:nvSpPr>
          <p:cNvPr id="42" name="node Arize AX"/>
          <p:cNvSpPr/>
          <p:nvPr/>
        </p:nvSpPr>
        <p:spPr>
          <a:xfrm>
            <a:off x="7452360" y="4279392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F1EFE8"/>
          </a:solidFill>
          <a:ln w="15875">
            <a:solidFill>
              <a:srgbClr val="73726C"/>
            </a:solidFill>
            <a:prstDash val="dash"/>
          </a:ln>
        </p:spPr>
      </p:sp>
      <p:pic>
        <p:nvPicPr>
          <p:cNvPr id="43" name="Image 12" descr="/home/claude/arch/ariz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4656" y="4425696"/>
            <a:ext cx="237744" cy="237744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7845552" y="4279392"/>
            <a:ext cx="1014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AX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egress</a:t>
            </a:r>
            <a:endParaRPr lang="en-US" sz="1100" dirty="0"/>
          </a:p>
        </p:txBody>
      </p:sp>
      <p:sp>
        <p:nvSpPr>
          <p:cNvPr id="45" name="Shape 30"/>
          <p:cNvSpPr/>
          <p:nvPr/>
        </p:nvSpPr>
        <p:spPr>
          <a:xfrm flipV="1">
            <a:off x="1143000" y="2148840"/>
            <a:ext cx="0" cy="5943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6" name="Shape 31"/>
          <p:cNvSpPr/>
          <p:nvPr/>
        </p:nvSpPr>
        <p:spPr>
          <a:xfrm>
            <a:off x="1225296" y="23454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7" name="Text 32"/>
          <p:cNvSpPr txBox="1"/>
          <p:nvPr/>
        </p:nvSpPr>
        <p:spPr>
          <a:xfrm>
            <a:off x="1225296" y="2345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8" name="Shape 33"/>
          <p:cNvSpPr/>
          <p:nvPr/>
        </p:nvSpPr>
        <p:spPr>
          <a:xfrm>
            <a:off x="1874520" y="3086100"/>
            <a:ext cx="3657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49" name="Shape 34"/>
          <p:cNvSpPr/>
          <p:nvPr/>
        </p:nvSpPr>
        <p:spPr>
          <a:xfrm>
            <a:off x="1956816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0" name="Text 35"/>
          <p:cNvSpPr txBox="1"/>
          <p:nvPr/>
        </p:nvSpPr>
        <p:spPr>
          <a:xfrm>
            <a:off x="1956816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1" name="Shape 36"/>
          <p:cNvSpPr/>
          <p:nvPr/>
        </p:nvSpPr>
        <p:spPr>
          <a:xfrm>
            <a:off x="3703320" y="3086100"/>
            <a:ext cx="27432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2" name="Shape 37"/>
          <p:cNvSpPr/>
          <p:nvPr/>
        </p:nvSpPr>
        <p:spPr>
          <a:xfrm>
            <a:off x="3739896" y="2802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3739896" y="2802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54" name="Shape 39"/>
          <p:cNvSpPr/>
          <p:nvPr/>
        </p:nvSpPr>
        <p:spPr>
          <a:xfrm>
            <a:off x="5440680" y="2971800"/>
            <a:ext cx="201168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55" name="Shape 40"/>
          <p:cNvSpPr/>
          <p:nvPr/>
        </p:nvSpPr>
        <p:spPr>
          <a:xfrm>
            <a:off x="6483096" y="26883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6483096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57" name="Shape 42"/>
          <p:cNvSpPr/>
          <p:nvPr/>
        </p:nvSpPr>
        <p:spPr>
          <a:xfrm>
            <a:off x="7123176" y="2249424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58" name="Text 43"/>
          <p:cNvSpPr txBox="1"/>
          <p:nvPr/>
        </p:nvSpPr>
        <p:spPr>
          <a:xfrm>
            <a:off x="7123176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59" name="Shape 44"/>
          <p:cNvSpPr/>
          <p:nvPr/>
        </p:nvSpPr>
        <p:spPr>
          <a:xfrm>
            <a:off x="5120640" y="3429000"/>
            <a:ext cx="0" cy="27432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5120640" y="3703320"/>
            <a:ext cx="8229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1" name="Shape 46"/>
          <p:cNvSpPr/>
          <p:nvPr/>
        </p:nvSpPr>
        <p:spPr>
          <a:xfrm>
            <a:off x="5477256" y="36027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5477256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63" name="Shape 48"/>
          <p:cNvSpPr/>
          <p:nvPr/>
        </p:nvSpPr>
        <p:spPr>
          <a:xfrm flipH="1">
            <a:off x="5440680" y="4457700"/>
            <a:ext cx="50292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4" name="Shape 49"/>
          <p:cNvSpPr/>
          <p:nvPr/>
        </p:nvSpPr>
        <p:spPr>
          <a:xfrm flipV="1">
            <a:off x="3520440" y="3794760"/>
            <a:ext cx="0" cy="32004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65" name="Shape 50"/>
          <p:cNvSpPr/>
          <p:nvPr/>
        </p:nvSpPr>
        <p:spPr>
          <a:xfrm>
            <a:off x="3520440" y="3794760"/>
            <a:ext cx="822960" cy="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 flipV="1">
            <a:off x="4343400" y="3429000"/>
            <a:ext cx="0" cy="365760"/>
          </a:xfrm>
          <a:prstGeom prst="line">
            <a:avLst/>
          </a:prstGeom>
          <a:noFill/>
          <a:ln w="12700">
            <a:solidFill>
              <a:srgbClr val="73726C"/>
            </a:solidFill>
            <a:prstDash val="solid"/>
            <a:tailEnd type="triangle"/>
          </a:ln>
        </p:spPr>
      </p:sp>
      <p:sp>
        <p:nvSpPr>
          <p:cNvPr id="67" name="Shape 52"/>
          <p:cNvSpPr/>
          <p:nvPr/>
        </p:nvSpPr>
        <p:spPr>
          <a:xfrm>
            <a:off x="3191256" y="369417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8" name="Text 53"/>
          <p:cNvSpPr txBox="1"/>
          <p:nvPr/>
        </p:nvSpPr>
        <p:spPr>
          <a:xfrm>
            <a:off x="3191256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69" name="Shape 54"/>
          <p:cNvSpPr/>
          <p:nvPr/>
        </p:nvSpPr>
        <p:spPr>
          <a:xfrm>
            <a:off x="8951976" y="4443984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70" name="Text 55"/>
          <p:cNvSpPr txBox="1"/>
          <p:nvPr/>
        </p:nvSpPr>
        <p:spPr>
          <a:xfrm>
            <a:off x="8951976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1" name="Text 56"/>
          <p:cNvSpPr txBox="1"/>
          <p:nvPr/>
        </p:nvSpPr>
        <p:spPr>
          <a:xfrm>
            <a:off x="92354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notes</a:t>
            </a:r>
            <a:endParaRPr lang="en-US" sz="1300" dirty="0"/>
          </a:p>
        </p:txBody>
      </p:sp>
      <p:sp>
        <p:nvSpPr>
          <p:cNvPr id="72" name="Shape 57"/>
          <p:cNvSpPr/>
          <p:nvPr/>
        </p:nvSpPr>
        <p:spPr>
          <a:xfrm>
            <a:off x="9235440" y="170992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3" name="Text 58"/>
          <p:cNvSpPr txBox="1"/>
          <p:nvPr/>
        </p:nvSpPr>
        <p:spPr>
          <a:xfrm>
            <a:off x="9235440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74" name="Text 59"/>
          <p:cNvSpPr txBox="1"/>
          <p:nvPr/>
        </p:nvSpPr>
        <p:spPr>
          <a:xfrm>
            <a:off x="9555480" y="1691640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built-in auth with Entra ID; the browser holds only a cookie.</a:t>
            </a:r>
            <a:endParaRPr lang="en-US" sz="850" dirty="0"/>
          </a:p>
        </p:txBody>
      </p:sp>
      <p:sp>
        <p:nvSpPr>
          <p:cNvPr id="75" name="Shape 60"/>
          <p:cNvSpPr/>
          <p:nvPr/>
        </p:nvSpPr>
        <p:spPr>
          <a:xfrm>
            <a:off x="9235440" y="2232442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6" name="Text 61"/>
          <p:cNvSpPr txBox="1"/>
          <p:nvPr/>
        </p:nvSpPr>
        <p:spPr>
          <a:xfrm>
            <a:off x="9235440" y="223244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7" name="Text 62"/>
          <p:cNvSpPr txBox="1"/>
          <p:nvPr/>
        </p:nvSpPr>
        <p:spPr>
          <a:xfrm>
            <a:off x="9555480" y="2214154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entry.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to web (nginx + SPA), the only app with external ingress.</a:t>
            </a:r>
            <a:endParaRPr lang="en-US" sz="850" dirty="0"/>
          </a:p>
        </p:txBody>
      </p:sp>
      <p:sp>
        <p:nvSpPr>
          <p:cNvPr id="78" name="Shape 63"/>
          <p:cNvSpPr/>
          <p:nvPr/>
        </p:nvSpPr>
        <p:spPr>
          <a:xfrm>
            <a:off x="9235440" y="2754957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9" name="Text 64"/>
          <p:cNvSpPr txBox="1"/>
          <p:nvPr/>
        </p:nvSpPr>
        <p:spPr>
          <a:xfrm>
            <a:off x="9235440" y="2754957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0" name="Text 65"/>
          <p:cNvSpPr txBox="1"/>
          <p:nvPr/>
        </p:nvSpPr>
        <p:spPr>
          <a:xfrm>
            <a:off x="9555480" y="2736669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hop.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proxies /api to api, reachable only on internal ingress.</a:t>
            </a:r>
            <a:endParaRPr lang="en-US" sz="850" dirty="0"/>
          </a:p>
        </p:txBody>
      </p:sp>
      <p:sp>
        <p:nvSpPr>
          <p:cNvPr id="81" name="Shape 66"/>
          <p:cNvSpPr/>
          <p:nvPr/>
        </p:nvSpPr>
        <p:spPr>
          <a:xfrm>
            <a:off x="9235440" y="3277471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9235440" y="327747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3" name="Text 68"/>
          <p:cNvSpPr txBox="1"/>
          <p:nvPr/>
        </p:nvSpPr>
        <p:spPr>
          <a:xfrm>
            <a:off x="9555480" y="3259183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queries AI Search (vector + keyword, RRF) with Managed Identity.</a:t>
            </a:r>
            <a:endParaRPr lang="en-US" sz="850" dirty="0"/>
          </a:p>
        </p:txBody>
      </p:sp>
      <p:sp>
        <p:nvSpPr>
          <p:cNvPr id="84" name="Shape 69"/>
          <p:cNvSpPr/>
          <p:nvPr/>
        </p:nvSpPr>
        <p:spPr>
          <a:xfrm>
            <a:off x="9235440" y="3799985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5" name="Text 70"/>
          <p:cNvSpPr txBox="1"/>
          <p:nvPr/>
        </p:nvSpPr>
        <p:spPr>
          <a:xfrm>
            <a:off x="9235440" y="3799985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6" name="Text 71"/>
          <p:cNvSpPr txBox="1"/>
          <p:nvPr/>
        </p:nvSpPr>
        <p:spPr>
          <a:xfrm>
            <a:off x="9555480" y="3781697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Foundry with Managed Identity; the reranker runs inside api.</a:t>
            </a:r>
            <a:endParaRPr lang="en-US" sz="850" dirty="0"/>
          </a:p>
        </p:txBody>
      </p:sp>
      <p:sp>
        <p:nvSpPr>
          <p:cNvPr id="87" name="Shape 72"/>
          <p:cNvSpPr/>
          <p:nvPr/>
        </p:nvSpPr>
        <p:spPr>
          <a:xfrm>
            <a:off x="9235440" y="4322499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8" name="Text 73"/>
          <p:cNvSpPr txBox="1"/>
          <p:nvPr/>
        </p:nvSpPr>
        <p:spPr>
          <a:xfrm>
            <a:off x="9235440" y="4322499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9" name="Text 74"/>
          <p:cNvSpPr txBox="1"/>
          <p:nvPr/>
        </p:nvSpPr>
        <p:spPr>
          <a:xfrm>
            <a:off x="9555480" y="4304211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writes to Blob and the queue; KEDA wakes the ingest job, even from zero.</a:t>
            </a:r>
            <a:endParaRPr lang="en-US" sz="850" dirty="0"/>
          </a:p>
        </p:txBody>
      </p:sp>
      <p:sp>
        <p:nvSpPr>
          <p:cNvPr id="90" name="Shape 75"/>
          <p:cNvSpPr/>
          <p:nvPr/>
        </p:nvSpPr>
        <p:spPr>
          <a:xfrm>
            <a:off x="9235440" y="4845014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1" name="Text 76"/>
          <p:cNvSpPr txBox="1"/>
          <p:nvPr/>
        </p:nvSpPr>
        <p:spPr>
          <a:xfrm>
            <a:off x="9235440" y="484501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92" name="Text 77"/>
          <p:cNvSpPr txBox="1"/>
          <p:nvPr/>
        </p:nvSpPr>
        <p:spPr>
          <a:xfrm>
            <a:off x="9555480" y="4826726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job replays the golden set against api; results to PostgreSQL.</a:t>
            </a:r>
            <a:endParaRPr lang="en-US" sz="850" dirty="0"/>
          </a:p>
        </p:txBody>
      </p:sp>
      <p:sp>
        <p:nvSpPr>
          <p:cNvPr id="93" name="Shape 78"/>
          <p:cNvSpPr/>
          <p:nvPr/>
        </p:nvSpPr>
        <p:spPr>
          <a:xfrm>
            <a:off x="9235440" y="5367528"/>
            <a:ext cx="201168" cy="201168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4" name="Text 79"/>
          <p:cNvSpPr txBox="1"/>
          <p:nvPr/>
        </p:nvSpPr>
        <p:spPr>
          <a:xfrm>
            <a:off x="9235440" y="5367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95" name="Text 80"/>
          <p:cNvSpPr txBox="1"/>
          <p:nvPr/>
        </p:nvSpPr>
        <p:spPr>
          <a:xfrm>
            <a:off x="9555480" y="5349240"/>
            <a:ext cx="2240280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Egress. </a:t>
            </a:r>
            <a:pPr indent="0" marL="0">
              <a:buNone/>
            </a:pPr>
            <a:r>
              <a:rPr lang="en-US" sz="8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traces to Arize AX are the only traffic leaving Azure.</a:t>
            </a:r>
            <a:endParaRPr lang="en-US" sz="850" dirty="0"/>
          </a:p>
        </p:txBody>
      </p:sp>
      <p:sp>
        <p:nvSpPr>
          <p:cNvPr id="96" name="Text 81"/>
          <p:cNvSpPr txBox="1"/>
          <p:nvPr/>
        </p:nvSpPr>
        <p:spPr>
          <a:xfrm>
            <a:off x="9235440" y="5897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arrows to shared services omitted. Images from Azure Container Registry; logs to Log Analytics. Region, SKUs, replicas and networking not yet specified.</a:t>
            </a:r>
            <a:endParaRPr lang="en-US" sz="750" dirty="0"/>
          </a:p>
        </p:txBody>
      </p:sp>
      <p:sp>
        <p:nvSpPr>
          <p:cNvPr id="97" name="Shape 82"/>
          <p:cNvSpPr/>
          <p:nvPr/>
        </p:nvSpPr>
        <p:spPr>
          <a:xfrm>
            <a:off x="4114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8" name="Text 83"/>
          <p:cNvSpPr txBox="1"/>
          <p:nvPr/>
        </p:nvSpPr>
        <p:spPr>
          <a:xfrm>
            <a:off x="6126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850" dirty="0"/>
          </a:p>
        </p:txBody>
      </p:sp>
      <p:sp>
        <p:nvSpPr>
          <p:cNvPr id="99" name="Shape 84"/>
          <p:cNvSpPr/>
          <p:nvPr/>
        </p:nvSpPr>
        <p:spPr>
          <a:xfrm>
            <a:off x="20116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0" name="Text 85"/>
          <p:cNvSpPr txBox="1"/>
          <p:nvPr/>
        </p:nvSpPr>
        <p:spPr>
          <a:xfrm>
            <a:off x="22128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managed</a:t>
            </a:r>
            <a:endParaRPr lang="en-US" sz="850" dirty="0"/>
          </a:p>
        </p:txBody>
      </p:sp>
      <p:sp>
        <p:nvSpPr>
          <p:cNvPr id="101" name="Shape 86"/>
          <p:cNvSpPr/>
          <p:nvPr/>
        </p:nvSpPr>
        <p:spPr>
          <a:xfrm>
            <a:off x="3611880" y="61539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1EFE8"/>
          </a:solidFill>
          <a:ln w="12700">
            <a:solidFill>
              <a:srgbClr val="73726C"/>
            </a:solidFill>
            <a:prstDash val="solid"/>
          </a:ln>
        </p:spPr>
      </p:sp>
      <p:sp>
        <p:nvSpPr>
          <p:cNvPr id="102" name="Text 87"/>
          <p:cNvSpPr txBox="1"/>
          <p:nvPr/>
        </p:nvSpPr>
        <p:spPr>
          <a:xfrm>
            <a:off x="3813048" y="6108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external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views (1 of 2)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askPMO system, increasing concreteness: what and for whom → how it’s organized → with what, and where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3108960"/>
                <a:gridCol w="3474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(local · Azure)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question answered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assistant do, and for whom?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components exist and how does a question flow through them?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does each component run, and how do requests enter, move and leave?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audience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Sponsors, PMO leaders, business stakeholders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Architects, tech leads, design reviewers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Engineers, DevOps, security and cloud reviewers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blocks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People, capabilities, external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Services, pipeline stages, stores, identity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containers · container apps, jobs and Azure resources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named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roles: React, FastAPI, LangChain, Foundry, retrieval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nginx, qdrant, azurite, postgres · Container Apps, AI Search, Storage, KEDA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People, assistant capabilities, external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services, Azure managed, 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Compose network · one Container Apps environment plus shared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PMO admin, program manager, RAG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SPA entry point; roles implied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as client; roles not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→ Find → Rank → Check → Answer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stages inside the RAG API, each toggled by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stages run in the api container, in both environments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manager asks a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calls the RAG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on localhost:8080 · web on external ingress, api internal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and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in the program can 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on Azure; none locally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 in .env · Managed Identity everywhere, no connection strings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views (2 of 2)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shows the same idea getting more concrete from left to right; the physical column reads local · Azure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3108960"/>
                <a:gridCol w="3474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(local · Azure)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 of program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index, PostgreSQL, Blob + queue as separate stores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qdrant, postgres, azurite volumes · AI Search, PostgreSQL Flexible Server, Storage 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cited answer, or “not found”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answer with chunk IDs and stage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from api to the SPA in both environments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language model understands and drafts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chat model + embeddings; in-process reranker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by API key · Foundry by Managed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questions replayed and scored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runner calls the API per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run eval · Container Apps job, manual or scheduled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language model, quality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Foundry; Arize AX for tracing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egress paths locally (Foundry, Arize) · one on Azure (Arize)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and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relevant at this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laptop · apps scale to zero; KEDA wakes ingest on queue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emphasis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never improvised; sources always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backend services touch stores; answers bounded by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ports beyond 8080 · internal ingress, Managed Identity, Key Vault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Numbered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steps: the user journey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steps: the order of one question, plus ingest and 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steps locally · 8 steps on Azure: hops across hosting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unspecified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missing for its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chat model choice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region, SKUs, replica counts, VNet and private endpoints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8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kPMO Architecture">
  <a:themeElements>
    <a:clrScheme name="askPMO Architecture">
      <a:dk1>
        <a:srgbClr val="2C2C2A"/>
      </a:dk1>
      <a:lt1>
        <a:srgbClr val="FFFFFF"/>
      </a:lt1>
      <a:dk2>
        <a:srgbClr val="1F2A44"/>
      </a:dk2>
      <a:lt2>
        <a:srgbClr val="F7F7F9"/>
      </a:lt2>
      <a:accent1>
        <a:srgbClr val="534AB7"/>
      </a:accent1>
      <a:accent2>
        <a:srgbClr val="0F6E56"/>
      </a:accent2>
      <a:accent3>
        <a:srgbClr val="993C1D"/>
      </a:accent3>
      <a:accent4>
        <a:srgbClr val="5F5E5A"/>
      </a:accent4>
      <a:accent5>
        <a:srgbClr val="D85A30"/>
      </a:accent5>
      <a:accent6>
        <a:srgbClr val="3C3489"/>
      </a:accent6>
      <a:hlink>
        <a:srgbClr val="534AB7"/>
      </a:hlink>
      <a:folHlink>
        <a:srgbClr val="3C3489"/>
      </a:folHlink>
    </a:clrScheme>
    <a:fontScheme name="askPMO Architec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askPMO - Architecture Views</dc:title>
  <dc:subject>PptxGenJS Presentation</dc:subject>
  <dc:creator>Gopinath Dhayanandamurthy</dc:creator>
  <cp:lastModifiedBy>Gopinath Dhayanandamurthy</cp:lastModifiedBy>
  <cp:revision>1</cp:revision>
  <dcterms:created xsi:type="dcterms:W3CDTF">2026-10-04T01:57:30Z</dcterms:created>
  <dcterms:modified xsi:type="dcterms:W3CDTF">2026-10-04T01:57:30Z</dcterms:modified>
</cp:coreProperties>
</file>